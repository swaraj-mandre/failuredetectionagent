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two seconds on the number. Ask the room: would you have caught that? The tool returned prices in paise instead of rupees. Nothing crashed, so a normal agent just reports it. QueryMend is about catching exactly this kind of failure.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demos only show loud failures, where the tool throws an error. The dangerous ones are quiet: the SQL runs, the number is wrong. And in a multi-turn chat, a wrong number gets reused, so the error spreads. PBA 2 targets all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ask in plain English, and if the answer is wrong, it notices, fixes it, or tells you it can't. Three agents plus one human checkpoint. Everything runs on a laptop GPU with a 3B model, no paid API.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route_after_tools checks every tool result for our Error prefix or an error status, and sends failures to handle_failure. The slide version treated every error the same, so the agent looped and even told a user to run DELETE. Our version classifies the error, caps retries at 3 and locks the tool for unsafe or unreachable cases. What it still cannot see: a wrong number with no error. That is why PBA 2 exists.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Executor is the only agent with database access. The Monitor has no model on purpose: a 3B model checking another 3B model shares its blind spots, so it uses rules from the shop's real limits. Recovery decides: retry with advice, or stop. The retry budget of 3 is the hop limit.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run from our failure demo. The first mistake is loud: an ambiguous column. The second is quiet: SUM next to order_id with no GROUP BY. SQLite returns one row without any error. Our number checks could not see it, so the Monitor now reads the SQL itself. Third try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Short-term memory is a SQLite checkpointer per thread_id, so follow-ups work and a crashed run resumes. Long-term memory is a SQLite store with a glossary per user. RAG is Chroma over our own 15-section error guide; it answers only from the guide and says I don't know otherwise.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corrupted result in turn 1, then the follow-up: how does that compare with August? Monitor off: the bad value sits in the shared history, and 10 out of 10 follow-ups repeat it. Monitor on: it swaps the bad message for a quarantine note with the same message id, so no agent ever sees it. 0 out of 10.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not opinions. PBA 1 gave a wrong number in 4 of 15 runs, PBA 2 in none. The price is real: up to three times the model calls when something needs fixing, and one extra call on the clean question. The evaluation also found a bug in our own Monitor, and we fixed the checks, not the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Warm the model first (about 45 seconds cold). Run containment, then failures, then privacy. Then hand over to the jury for their own question or edge case. If anything misbehaves, open the saved trace.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product idea: owner-defined limits, real databases through a read-only user, and an interface that shows the SQL and every time the Monitor stepped in. Then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640080" y="384048"/>
            <a:ext cx="256032"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 y="384048"/>
            <a:ext cx="256032" cy="640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61872" y="384048"/>
            <a:ext cx="256032" cy="6400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384048"/>
            <a:ext cx="256032"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10058400" cy="320040"/>
          </a:xfrm>
          <a:prstGeom prst="rect">
            <a:avLst/>
          </a:prstGeom>
          <a:noFill/>
        </p:spPr>
        <p:txBody>
          <a:bodyPr wrap="square" anchor="t" lIns="0" rIns="0" tIns="0" bIns="0">
            <a:spAutoFit/>
          </a:bodyPr>
          <a:lstStyle/>
          <a:p>
            <a:pPr algn="l">
              <a:lnSpc>
                <a:spcPct val="110000"/>
              </a:lnSpc>
            </a:pPr>
            <a:r>
              <a:rPr sz="1300" spc="150">
                <a:solidFill>
                  <a:srgbClr val="FBBF24"/>
                </a:solidFill>
                <a:latin typeface="Segoe UI Semibold"/>
              </a:rPr>
              <a:t>SEPTEMBER REVENUE  ·  SAHYADRI STORES</a:t>
            </a:r>
          </a:p>
        </p:txBody>
      </p:sp>
      <p:sp>
        <p:nvSpPr>
          <p:cNvPr id="7" name="TextBox 6"/>
          <p:cNvSpPr txBox="1"/>
          <p:nvPr/>
        </p:nvSpPr>
        <p:spPr>
          <a:xfrm>
            <a:off x="594359" y="1600200"/>
            <a:ext cx="10972800" cy="1737360"/>
          </a:xfrm>
          <a:prstGeom prst="rect">
            <a:avLst/>
          </a:prstGeom>
          <a:noFill/>
        </p:spPr>
        <p:txBody>
          <a:bodyPr wrap="square" anchor="t" lIns="0" rIns="0" tIns="0" bIns="0">
            <a:spAutoFit/>
          </a:bodyPr>
          <a:lstStyle/>
          <a:p>
            <a:pPr algn="l">
              <a:lnSpc>
                <a:spcPct val="110000"/>
              </a:lnSpc>
            </a:pPr>
            <a:r>
              <a:rPr sz="11000" strike="sngStrike">
                <a:solidFill>
                  <a:srgbClr val="FB7185"/>
                </a:solidFill>
                <a:latin typeface="Bahnschrift SemiBold"/>
              </a:rPr>
              <a:t>Rs 24,03,00,20</a:t>
            </a:r>
          </a:p>
        </p:txBody>
      </p:sp>
      <p:sp>
        <p:nvSpPr>
          <p:cNvPr id="8" name="TextBox 7"/>
          <p:cNvSpPr txBox="1"/>
          <p:nvPr/>
        </p:nvSpPr>
        <p:spPr>
          <a:xfrm>
            <a:off x="640080" y="3520440"/>
            <a:ext cx="10515600" cy="548640"/>
          </a:xfrm>
          <a:prstGeom prst="rect">
            <a:avLst/>
          </a:prstGeom>
          <a:noFill/>
        </p:spPr>
        <p:txBody>
          <a:bodyPr wrap="square" anchor="t" lIns="0" rIns="0" tIns="0" bIns="0">
            <a:spAutoFit/>
          </a:bodyPr>
          <a:lstStyle/>
          <a:p>
            <a:pPr algn="l">
              <a:lnSpc>
                <a:spcPct val="110000"/>
              </a:lnSpc>
            </a:pPr>
            <a:r>
              <a:rPr sz="3000">
                <a:solidFill>
                  <a:srgbClr val="FFFFFF"/>
                </a:solidFill>
                <a:latin typeface="Segoe UI Light"/>
              </a:rPr>
              <a:t>Our AI agent said this, with full confidence.</a:t>
            </a:r>
          </a:p>
        </p:txBody>
      </p:sp>
      <p:sp>
        <p:nvSpPr>
          <p:cNvPr id="9" name="TextBox 8"/>
          <p:cNvSpPr txBox="1"/>
          <p:nvPr/>
        </p:nvSpPr>
        <p:spPr>
          <a:xfrm>
            <a:off x="640080" y="4114800"/>
            <a:ext cx="10515600" cy="640080"/>
          </a:xfrm>
          <a:prstGeom prst="rect">
            <a:avLst/>
          </a:prstGeom>
          <a:noFill/>
        </p:spPr>
        <p:txBody>
          <a:bodyPr wrap="square" anchor="t" lIns="0" rIns="0" tIns="0" bIns="0">
            <a:spAutoFit/>
          </a:bodyPr>
          <a:lstStyle/>
          <a:p>
            <a:pPr algn="l">
              <a:lnSpc>
                <a:spcPct val="110000"/>
              </a:lnSpc>
            </a:pPr>
            <a:r>
              <a:rPr sz="3000">
                <a:solidFill>
                  <a:srgbClr val="FFFFFF"/>
                </a:solidFill>
                <a:latin typeface="Segoe UI Light"/>
              </a:rPr>
              <a:t>The real answer is </a:t>
            </a:r>
            <a:r>
              <a:rPr sz="3400">
                <a:solidFill>
                  <a:srgbClr val="34D399"/>
                </a:solidFill>
                <a:latin typeface="Bahnschrift SemiBold"/>
              </a:rPr>
              <a:t>Rs 2,40,300</a:t>
            </a:r>
          </a:p>
        </p:txBody>
      </p:sp>
      <p:sp>
        <p:nvSpPr>
          <p:cNvPr id="10" name="TextBox 9"/>
          <p:cNvSpPr txBox="1"/>
          <p:nvPr/>
        </p:nvSpPr>
        <p:spPr>
          <a:xfrm>
            <a:off x="640080" y="5257800"/>
            <a:ext cx="10515600" cy="457200"/>
          </a:xfrm>
          <a:prstGeom prst="rect">
            <a:avLst/>
          </a:prstGeom>
          <a:noFill/>
        </p:spPr>
        <p:txBody>
          <a:bodyPr wrap="square" anchor="t" lIns="0" rIns="0" tIns="0" bIns="0">
            <a:spAutoFit/>
          </a:bodyPr>
          <a:lstStyle/>
          <a:p>
            <a:pPr algn="l">
              <a:lnSpc>
                <a:spcPct val="110000"/>
              </a:lnSpc>
            </a:pPr>
            <a:r>
              <a:rPr sz="2000">
                <a:solidFill>
                  <a:srgbClr val="CBD5E1"/>
                </a:solidFill>
                <a:latin typeface="Segoe UI"/>
              </a:rPr>
              <a:t>No error. No warning. Just a wrong number, a hundred times too big.</a:t>
            </a:r>
          </a:p>
        </p:txBody>
      </p:sp>
      <p:sp>
        <p:nvSpPr>
          <p:cNvPr id="11" name="TextBox 10"/>
          <p:cNvSpPr txBox="1"/>
          <p:nvPr/>
        </p:nvSpPr>
        <p:spPr>
          <a:xfrm>
            <a:off x="640080" y="6446520"/>
            <a:ext cx="5486400" cy="274320"/>
          </a:xfrm>
          <a:prstGeom prst="rect">
            <a:avLst/>
          </a:prstGeom>
          <a:noFill/>
        </p:spPr>
        <p:txBody>
          <a:bodyPr wrap="square" anchor="t" lIns="0" rIns="0" tIns="0" bIns="0">
            <a:spAutoFit/>
          </a:bodyPr>
          <a:lstStyle/>
          <a:p>
            <a:pPr algn="l">
              <a:lnSpc>
                <a:spcPct val="110000"/>
              </a:lnSpc>
            </a:pPr>
            <a:r>
              <a:rPr sz="1100">
                <a:solidFill>
                  <a:srgbClr val="CBD5E1"/>
                </a:solidFill>
                <a:latin typeface="Segoe UI"/>
              </a:rPr>
              <a:t>QueryMend  ·  Group 17  ·  AIA_05</a:t>
            </a:r>
          </a:p>
        </p:txBody>
      </p:sp>
      <p:sp>
        <p:nvSpPr>
          <p:cNvPr id="12" name="TextBox 11"/>
          <p:cNvSpPr txBox="1"/>
          <p:nvPr/>
        </p:nvSpPr>
        <p:spPr>
          <a:xfrm>
            <a:off x="10637215" y="6446520"/>
            <a:ext cx="914400" cy="274320"/>
          </a:xfrm>
          <a:prstGeom prst="rect">
            <a:avLst/>
          </a:prstGeom>
          <a:noFill/>
        </p:spPr>
        <p:txBody>
          <a:bodyPr wrap="square" anchor="t" lIns="0" rIns="0" tIns="0" bIns="0">
            <a:spAutoFit/>
          </a:bodyPr>
          <a:lstStyle/>
          <a:p>
            <a:pPr algn="r">
              <a:lnSpc>
                <a:spcPct val="110000"/>
              </a:lnSpc>
            </a:pPr>
            <a:r>
              <a:rPr sz="1100">
                <a:solidFill>
                  <a:srgbClr val="CBD5E1"/>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384048"/>
            <a:ext cx="256032"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 y="384048"/>
            <a:ext cx="256032" cy="640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61872" y="384048"/>
            <a:ext cx="256032" cy="6400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384048"/>
            <a:ext cx="256032"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21792"/>
            <a:ext cx="10058400" cy="320040"/>
          </a:xfrm>
          <a:prstGeom prst="rect">
            <a:avLst/>
          </a:prstGeom>
          <a:noFill/>
        </p:spPr>
        <p:txBody>
          <a:bodyPr wrap="square" anchor="t" lIns="0" rIns="0" tIns="0" bIns="0">
            <a:spAutoFit/>
          </a:bodyPr>
          <a:lstStyle/>
          <a:p>
            <a:pPr algn="l">
              <a:lnSpc>
                <a:spcPct val="110000"/>
              </a:lnSpc>
            </a:pPr>
            <a:r>
              <a:rPr sz="1300" spc="150">
                <a:solidFill>
                  <a:srgbClr val="2563EB"/>
                </a:solidFill>
                <a:latin typeface="Segoe UI Semibold"/>
              </a:rPr>
              <a:t>THE PROBLEM</a:t>
            </a:r>
          </a:p>
        </p:txBody>
      </p:sp>
      <p:sp>
        <p:nvSpPr>
          <p:cNvPr id="7" name="TextBox 6"/>
          <p:cNvSpPr txBox="1"/>
          <p:nvPr/>
        </p:nvSpPr>
        <p:spPr>
          <a:xfrm>
            <a:off x="640080" y="932688"/>
            <a:ext cx="10881360" cy="914400"/>
          </a:xfrm>
          <a:prstGeom prst="rect">
            <a:avLst/>
          </a:prstGeom>
          <a:noFill/>
        </p:spPr>
        <p:txBody>
          <a:bodyPr wrap="square" anchor="t" lIns="0" rIns="0" tIns="0" bIns="0">
            <a:spAutoFit/>
          </a:bodyPr>
          <a:lstStyle/>
          <a:p>
            <a:pPr algn="l">
              <a:lnSpc>
                <a:spcPct val="100000"/>
              </a:lnSpc>
            </a:pPr>
            <a:r>
              <a:rPr sz="3400">
                <a:solidFill>
                  <a:srgbClr val="14213D"/>
                </a:solidFill>
                <a:latin typeface="Bahnschrift SemiBold"/>
              </a:rPr>
              <a:t>AI agents fail in three ways. Only one makes noise.</a:t>
            </a:r>
          </a:p>
        </p:txBody>
      </p:sp>
      <p:sp>
        <p:nvSpPr>
          <p:cNvPr id="8" name="Rounded Rectangle 7"/>
          <p:cNvSpPr/>
          <p:nvPr/>
        </p:nvSpPr>
        <p:spPr>
          <a:xfrm>
            <a:off x="640080" y="2240280"/>
            <a:ext cx="3429000" cy="2926080"/>
          </a:xfrm>
          <a:prstGeom prst="roundRect">
            <a:avLst>
              <a:gd name="adj" fmla="val 375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240280"/>
            <a:ext cx="3429000" cy="9144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19" y="2560320"/>
            <a:ext cx="2788920" cy="548640"/>
          </a:xfrm>
          <a:prstGeom prst="rect">
            <a:avLst/>
          </a:prstGeom>
          <a:noFill/>
        </p:spPr>
        <p:txBody>
          <a:bodyPr wrap="square" anchor="t" lIns="0" rIns="0" tIns="0" bIns="0">
            <a:spAutoFit/>
          </a:bodyPr>
          <a:lstStyle/>
          <a:p>
            <a:pPr algn="l">
              <a:lnSpc>
                <a:spcPct val="110000"/>
              </a:lnSpc>
            </a:pPr>
            <a:r>
              <a:rPr sz="3000">
                <a:solidFill>
                  <a:srgbClr val="64748B"/>
                </a:solidFill>
                <a:latin typeface="Bahnschrift SemiBold"/>
              </a:rPr>
              <a:t>Loud</a:t>
            </a:r>
          </a:p>
        </p:txBody>
      </p:sp>
      <p:sp>
        <p:nvSpPr>
          <p:cNvPr id="11" name="TextBox 10"/>
          <p:cNvSpPr txBox="1"/>
          <p:nvPr/>
        </p:nvSpPr>
        <p:spPr>
          <a:xfrm>
            <a:off x="960119" y="3154680"/>
            <a:ext cx="2788920" cy="640080"/>
          </a:xfrm>
          <a:prstGeom prst="rect">
            <a:avLst/>
          </a:prstGeom>
          <a:noFill/>
        </p:spPr>
        <p:txBody>
          <a:bodyPr wrap="square" anchor="t" lIns="0" rIns="0" tIns="0" bIns="0">
            <a:spAutoFit/>
          </a:bodyPr>
          <a:lstStyle/>
          <a:p>
            <a:pPr algn="l">
              <a:lnSpc>
                <a:spcPct val="100000"/>
              </a:lnSpc>
            </a:pPr>
            <a:r>
              <a:rPr sz="1800">
                <a:solidFill>
                  <a:srgbClr val="14213D"/>
                </a:solidFill>
                <a:latin typeface="Segoe UI Semibold"/>
              </a:rPr>
              <a:t>The tool throws an error</a:t>
            </a:r>
          </a:p>
        </p:txBody>
      </p:sp>
      <p:sp>
        <p:nvSpPr>
          <p:cNvPr id="12" name="TextBox 11"/>
          <p:cNvSpPr txBox="1"/>
          <p:nvPr/>
        </p:nvSpPr>
        <p:spPr>
          <a:xfrm>
            <a:off x="960119" y="3867912"/>
            <a:ext cx="2788920" cy="548640"/>
          </a:xfrm>
          <a:prstGeom prst="rect">
            <a:avLst/>
          </a:prstGeom>
          <a:noFill/>
        </p:spPr>
        <p:txBody>
          <a:bodyPr wrap="square" anchor="t" lIns="0" rIns="0" tIns="0" bIns="0">
            <a:spAutoFit/>
          </a:bodyPr>
          <a:lstStyle/>
          <a:p>
            <a:pPr algn="l">
              <a:lnSpc>
                <a:spcPct val="110000"/>
              </a:lnSpc>
            </a:pPr>
            <a:r>
              <a:rPr sz="1300">
                <a:solidFill>
                  <a:srgbClr val="64748B"/>
                </a:solidFill>
                <a:latin typeface="Consolas"/>
              </a:rPr>
              <a:t>no such column: amount</a:t>
            </a:r>
          </a:p>
        </p:txBody>
      </p:sp>
      <p:sp>
        <p:nvSpPr>
          <p:cNvPr id="13" name="TextBox 12"/>
          <p:cNvSpPr txBox="1"/>
          <p:nvPr/>
        </p:nvSpPr>
        <p:spPr>
          <a:xfrm>
            <a:off x="960119" y="4453128"/>
            <a:ext cx="2788920" cy="548640"/>
          </a:xfrm>
          <a:prstGeom prst="rect">
            <a:avLst/>
          </a:prstGeom>
          <a:noFill/>
        </p:spPr>
        <p:txBody>
          <a:bodyPr wrap="square" anchor="t" lIns="0" rIns="0" tIns="0" bIns="0">
            <a:spAutoFit/>
          </a:bodyPr>
          <a:lstStyle/>
          <a:p>
            <a:pPr algn="l">
              <a:lnSpc>
                <a:spcPct val="110000"/>
              </a:lnSpc>
            </a:pPr>
            <a:r>
              <a:rPr sz="1500">
                <a:solidFill>
                  <a:srgbClr val="14213D"/>
                </a:solidFill>
                <a:latin typeface="Segoe UI"/>
              </a:rPr>
              <a:t>Easy to catch, easy to retry.</a:t>
            </a:r>
          </a:p>
        </p:txBody>
      </p:sp>
      <p:sp>
        <p:nvSpPr>
          <p:cNvPr id="14" name="Rounded Rectangle 13"/>
          <p:cNvSpPr/>
          <p:nvPr/>
        </p:nvSpPr>
        <p:spPr>
          <a:xfrm>
            <a:off x="4370832" y="2240280"/>
            <a:ext cx="3429000" cy="2926080"/>
          </a:xfrm>
          <a:prstGeom prst="roundRect">
            <a:avLst>
              <a:gd name="adj" fmla="val 375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0832" y="2240280"/>
            <a:ext cx="3429000"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90872" y="2560320"/>
            <a:ext cx="2788920" cy="548640"/>
          </a:xfrm>
          <a:prstGeom prst="rect">
            <a:avLst/>
          </a:prstGeom>
          <a:noFill/>
        </p:spPr>
        <p:txBody>
          <a:bodyPr wrap="square" anchor="t" lIns="0" rIns="0" tIns="0" bIns="0">
            <a:spAutoFit/>
          </a:bodyPr>
          <a:lstStyle/>
          <a:p>
            <a:pPr algn="l">
              <a:lnSpc>
                <a:spcPct val="110000"/>
              </a:lnSpc>
            </a:pPr>
            <a:r>
              <a:rPr sz="3000">
                <a:solidFill>
                  <a:srgbClr val="E11D48"/>
                </a:solidFill>
                <a:latin typeface="Bahnschrift SemiBold"/>
              </a:rPr>
              <a:t>Quiet</a:t>
            </a:r>
          </a:p>
        </p:txBody>
      </p:sp>
      <p:sp>
        <p:nvSpPr>
          <p:cNvPr id="17" name="TextBox 16"/>
          <p:cNvSpPr txBox="1"/>
          <p:nvPr/>
        </p:nvSpPr>
        <p:spPr>
          <a:xfrm>
            <a:off x="4690872" y="3154680"/>
            <a:ext cx="2788920" cy="640080"/>
          </a:xfrm>
          <a:prstGeom prst="rect">
            <a:avLst/>
          </a:prstGeom>
          <a:noFill/>
        </p:spPr>
        <p:txBody>
          <a:bodyPr wrap="square" anchor="t" lIns="0" rIns="0" tIns="0" bIns="0">
            <a:spAutoFit/>
          </a:bodyPr>
          <a:lstStyle/>
          <a:p>
            <a:pPr algn="l">
              <a:lnSpc>
                <a:spcPct val="100000"/>
              </a:lnSpc>
            </a:pPr>
            <a:r>
              <a:rPr sz="1800">
                <a:solidFill>
                  <a:srgbClr val="14213D"/>
                </a:solidFill>
                <a:latin typeface="Segoe UI Semibold"/>
              </a:rPr>
              <a:t>The number is just wrong</a:t>
            </a:r>
          </a:p>
        </p:txBody>
      </p:sp>
      <p:sp>
        <p:nvSpPr>
          <p:cNvPr id="18" name="TextBox 17"/>
          <p:cNvSpPr txBox="1"/>
          <p:nvPr/>
        </p:nvSpPr>
        <p:spPr>
          <a:xfrm>
            <a:off x="4690872" y="3867912"/>
            <a:ext cx="2788920" cy="548640"/>
          </a:xfrm>
          <a:prstGeom prst="rect">
            <a:avLst/>
          </a:prstGeom>
          <a:noFill/>
        </p:spPr>
        <p:txBody>
          <a:bodyPr wrap="square" anchor="t" lIns="0" rIns="0" tIns="0" bIns="0">
            <a:spAutoFit/>
          </a:bodyPr>
          <a:lstStyle/>
          <a:p>
            <a:pPr algn="l">
              <a:lnSpc>
                <a:spcPct val="110000"/>
              </a:lnSpc>
            </a:pPr>
            <a:r>
              <a:rPr sz="1300">
                <a:solidFill>
                  <a:srgbClr val="64748B"/>
                </a:solidFill>
                <a:latin typeface="Consolas"/>
              </a:rPr>
              <a:t>prices read in paise, a missing GROUP BY</a:t>
            </a:r>
          </a:p>
        </p:txBody>
      </p:sp>
      <p:sp>
        <p:nvSpPr>
          <p:cNvPr id="19" name="TextBox 18"/>
          <p:cNvSpPr txBox="1"/>
          <p:nvPr/>
        </p:nvSpPr>
        <p:spPr>
          <a:xfrm>
            <a:off x="4690872" y="4453128"/>
            <a:ext cx="2788920" cy="548640"/>
          </a:xfrm>
          <a:prstGeom prst="rect">
            <a:avLst/>
          </a:prstGeom>
          <a:noFill/>
        </p:spPr>
        <p:txBody>
          <a:bodyPr wrap="square" anchor="t" lIns="0" rIns="0" tIns="0" bIns="0">
            <a:spAutoFit/>
          </a:bodyPr>
          <a:lstStyle/>
          <a:p>
            <a:pPr algn="l">
              <a:lnSpc>
                <a:spcPct val="110000"/>
              </a:lnSpc>
            </a:pPr>
            <a:r>
              <a:rPr sz="1500">
                <a:solidFill>
                  <a:srgbClr val="E11D48"/>
                </a:solidFill>
                <a:latin typeface="Segoe UI"/>
              </a:rPr>
              <a:t>The query runs fine. Nobody notices.</a:t>
            </a:r>
          </a:p>
        </p:txBody>
      </p:sp>
      <p:sp>
        <p:nvSpPr>
          <p:cNvPr id="20" name="Rounded Rectangle 19"/>
          <p:cNvSpPr/>
          <p:nvPr/>
        </p:nvSpPr>
        <p:spPr>
          <a:xfrm>
            <a:off x="8101583" y="2240280"/>
            <a:ext cx="3429000" cy="2926080"/>
          </a:xfrm>
          <a:prstGeom prst="roundRect">
            <a:avLst>
              <a:gd name="adj" fmla="val 375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1583" y="2240280"/>
            <a:ext cx="3429000"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21624" y="2560320"/>
            <a:ext cx="2788920" cy="548640"/>
          </a:xfrm>
          <a:prstGeom prst="rect">
            <a:avLst/>
          </a:prstGeom>
          <a:noFill/>
        </p:spPr>
        <p:txBody>
          <a:bodyPr wrap="square" anchor="t" lIns="0" rIns="0" tIns="0" bIns="0">
            <a:spAutoFit/>
          </a:bodyPr>
          <a:lstStyle/>
          <a:p>
            <a:pPr algn="l">
              <a:lnSpc>
                <a:spcPct val="110000"/>
              </a:lnSpc>
            </a:pPr>
            <a:r>
              <a:rPr sz="3000">
                <a:solidFill>
                  <a:srgbClr val="E11D48"/>
                </a:solidFill>
                <a:latin typeface="Bahnschrift SemiBold"/>
              </a:rPr>
              <a:t>Spreading</a:t>
            </a:r>
          </a:p>
        </p:txBody>
      </p:sp>
      <p:sp>
        <p:nvSpPr>
          <p:cNvPr id="23" name="TextBox 22"/>
          <p:cNvSpPr txBox="1"/>
          <p:nvPr/>
        </p:nvSpPr>
        <p:spPr>
          <a:xfrm>
            <a:off x="8421624" y="3154680"/>
            <a:ext cx="2788920" cy="640080"/>
          </a:xfrm>
          <a:prstGeom prst="rect">
            <a:avLst/>
          </a:prstGeom>
          <a:noFill/>
        </p:spPr>
        <p:txBody>
          <a:bodyPr wrap="square" anchor="t" lIns="0" rIns="0" tIns="0" bIns="0">
            <a:spAutoFit/>
          </a:bodyPr>
          <a:lstStyle/>
          <a:p>
            <a:pPr algn="l">
              <a:lnSpc>
                <a:spcPct val="100000"/>
              </a:lnSpc>
            </a:pPr>
            <a:r>
              <a:rPr sz="1800">
                <a:solidFill>
                  <a:srgbClr val="14213D"/>
                </a:solidFill>
                <a:latin typeface="Segoe UI Semibold"/>
              </a:rPr>
              <a:t>The next answer builds on it</a:t>
            </a:r>
          </a:p>
        </p:txBody>
      </p:sp>
      <p:sp>
        <p:nvSpPr>
          <p:cNvPr id="24" name="TextBox 23"/>
          <p:cNvSpPr txBox="1"/>
          <p:nvPr/>
        </p:nvSpPr>
        <p:spPr>
          <a:xfrm>
            <a:off x="8421624" y="3867912"/>
            <a:ext cx="2788920" cy="548640"/>
          </a:xfrm>
          <a:prstGeom prst="rect">
            <a:avLst/>
          </a:prstGeom>
          <a:noFill/>
        </p:spPr>
        <p:txBody>
          <a:bodyPr wrap="square" anchor="t" lIns="0" rIns="0" tIns="0" bIns="0">
            <a:spAutoFit/>
          </a:bodyPr>
          <a:lstStyle/>
          <a:p>
            <a:pPr algn="l">
              <a:lnSpc>
                <a:spcPct val="110000"/>
              </a:lnSpc>
            </a:pPr>
            <a:r>
              <a:rPr sz="1300">
                <a:solidFill>
                  <a:srgbClr val="64748B"/>
                </a:solidFill>
                <a:latin typeface="Consolas"/>
              </a:rPr>
              <a:t>turn 2 reuses turn 1's number</a:t>
            </a:r>
          </a:p>
        </p:txBody>
      </p:sp>
      <p:sp>
        <p:nvSpPr>
          <p:cNvPr id="25" name="TextBox 24"/>
          <p:cNvSpPr txBox="1"/>
          <p:nvPr/>
        </p:nvSpPr>
        <p:spPr>
          <a:xfrm>
            <a:off x="8421624" y="4453128"/>
            <a:ext cx="2788920" cy="548640"/>
          </a:xfrm>
          <a:prstGeom prst="rect">
            <a:avLst/>
          </a:prstGeom>
          <a:noFill/>
        </p:spPr>
        <p:txBody>
          <a:bodyPr wrap="square" anchor="t" lIns="0" rIns="0" tIns="0" bIns="0">
            <a:spAutoFit/>
          </a:bodyPr>
          <a:lstStyle/>
          <a:p>
            <a:pPr algn="l">
              <a:lnSpc>
                <a:spcPct val="110000"/>
              </a:lnSpc>
            </a:pPr>
            <a:r>
              <a:rPr sz="1500">
                <a:solidFill>
                  <a:srgbClr val="E11D48"/>
                </a:solidFill>
                <a:latin typeface="Segoe UI"/>
              </a:rPr>
              <a:t>One mistake becomes many.</a:t>
            </a:r>
          </a:p>
        </p:txBody>
      </p:sp>
      <p:sp>
        <p:nvSpPr>
          <p:cNvPr id="26" name="TextBox 25"/>
          <p:cNvSpPr txBox="1"/>
          <p:nvPr/>
        </p:nvSpPr>
        <p:spPr>
          <a:xfrm>
            <a:off x="640080" y="5623560"/>
            <a:ext cx="10881360" cy="457200"/>
          </a:xfrm>
          <a:prstGeom prst="rect">
            <a:avLst/>
          </a:prstGeom>
          <a:noFill/>
        </p:spPr>
        <p:txBody>
          <a:bodyPr wrap="square" anchor="t" lIns="0" rIns="0" tIns="0" bIns="0">
            <a:spAutoFit/>
          </a:bodyPr>
          <a:lstStyle/>
          <a:p>
            <a:pPr algn="l">
              <a:lnSpc>
                <a:spcPct val="110000"/>
              </a:lnSpc>
            </a:pPr>
            <a:r>
              <a:rPr sz="2200">
                <a:solidFill>
                  <a:srgbClr val="2563EB"/>
                </a:solidFill>
                <a:latin typeface="Bahnschrift SemiBold"/>
              </a:rPr>
              <a:t>PBA 1 </a:t>
            </a:r>
            <a:r>
              <a:rPr sz="2200">
                <a:solidFill>
                  <a:srgbClr val="14213D"/>
                </a:solidFill>
                <a:latin typeface="Segoe UI"/>
              </a:rPr>
              <a:t>catches the loud ones.   </a:t>
            </a:r>
            <a:r>
              <a:rPr sz="2200">
                <a:solidFill>
                  <a:srgbClr val="059669"/>
                </a:solidFill>
                <a:latin typeface="Bahnschrift SemiBold"/>
              </a:rPr>
              <a:t>PBA 2 </a:t>
            </a:r>
            <a:r>
              <a:rPr sz="2200">
                <a:solidFill>
                  <a:srgbClr val="14213D"/>
                </a:solidFill>
                <a:latin typeface="Segoe UI"/>
              </a:rPr>
              <a:t>catches all three.</a:t>
            </a:r>
          </a:p>
        </p:txBody>
      </p:sp>
      <p:sp>
        <p:nvSpPr>
          <p:cNvPr id="27" name="TextBox 26"/>
          <p:cNvSpPr txBox="1"/>
          <p:nvPr/>
        </p:nvSpPr>
        <p:spPr>
          <a:xfrm>
            <a:off x="640080" y="6446520"/>
            <a:ext cx="5486400" cy="274320"/>
          </a:xfrm>
          <a:prstGeom prst="rect">
            <a:avLst/>
          </a:prstGeom>
          <a:noFill/>
        </p:spPr>
        <p:txBody>
          <a:bodyPr wrap="square" anchor="t" lIns="0" rIns="0" tIns="0" bIns="0">
            <a:spAutoFit/>
          </a:bodyPr>
          <a:lstStyle/>
          <a:p>
            <a:pPr algn="l">
              <a:lnSpc>
                <a:spcPct val="110000"/>
              </a:lnSpc>
            </a:pPr>
            <a:r>
              <a:rPr sz="1100">
                <a:solidFill>
                  <a:srgbClr val="64748B"/>
                </a:solidFill>
                <a:latin typeface="Segoe UI"/>
              </a:rPr>
              <a:t>QueryMend  ·  Group 17  ·  AIA_05</a:t>
            </a:r>
          </a:p>
        </p:txBody>
      </p:sp>
      <p:sp>
        <p:nvSpPr>
          <p:cNvPr id="28" name="TextBox 27"/>
          <p:cNvSpPr txBox="1"/>
          <p:nvPr/>
        </p:nvSpPr>
        <p:spPr>
          <a:xfrm>
            <a:off x="10637215" y="6446520"/>
            <a:ext cx="914400" cy="274320"/>
          </a:xfrm>
          <a:prstGeom prst="rect">
            <a:avLst/>
          </a:prstGeom>
          <a:noFill/>
        </p:spPr>
        <p:txBody>
          <a:bodyPr wrap="square" anchor="t" lIns="0" rIns="0" tIns="0" bIns="0">
            <a:spAutoFit/>
          </a:bodyPr>
          <a:lstStyle/>
          <a:p>
            <a:pPr algn="r">
              <a:lnSpc>
                <a:spcPct val="110000"/>
              </a:lnSpc>
            </a:pPr>
            <a:r>
              <a:rPr sz="1100">
                <a:solidFill>
                  <a:srgbClr val="64748B"/>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640080" y="384048"/>
            <a:ext cx="256032"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 y="384048"/>
            <a:ext cx="256032" cy="640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61872" y="384048"/>
            <a:ext cx="256032" cy="6400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384048"/>
            <a:ext cx="256032"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51560"/>
            <a:ext cx="10058400" cy="1188720"/>
          </a:xfrm>
          <a:prstGeom prst="rect">
            <a:avLst/>
          </a:prstGeom>
          <a:noFill/>
        </p:spPr>
        <p:txBody>
          <a:bodyPr wrap="square" anchor="t" lIns="0" rIns="0" tIns="0" bIns="0">
            <a:spAutoFit/>
          </a:bodyPr>
          <a:lstStyle/>
          <a:p>
            <a:pPr algn="l">
              <a:lnSpc>
                <a:spcPct val="110000"/>
              </a:lnSpc>
            </a:pPr>
            <a:r>
              <a:rPr sz="8000">
                <a:solidFill>
                  <a:srgbClr val="FFFFFF"/>
                </a:solidFill>
                <a:latin typeface="Bahnschrift SemiBold"/>
              </a:rPr>
              <a:t>QueryMend</a:t>
            </a:r>
          </a:p>
        </p:txBody>
      </p:sp>
      <p:sp>
        <p:nvSpPr>
          <p:cNvPr id="7" name="TextBox 6"/>
          <p:cNvSpPr txBox="1"/>
          <p:nvPr/>
        </p:nvSpPr>
        <p:spPr>
          <a:xfrm>
            <a:off x="640080" y="2331720"/>
            <a:ext cx="10241280" cy="1097280"/>
          </a:xfrm>
          <a:prstGeom prst="rect">
            <a:avLst/>
          </a:prstGeom>
          <a:noFill/>
        </p:spPr>
        <p:txBody>
          <a:bodyPr wrap="square" anchor="t" lIns="0" rIns="0" tIns="0" bIns="0">
            <a:spAutoFit/>
          </a:bodyPr>
          <a:lstStyle/>
          <a:p>
            <a:pPr algn="l">
              <a:lnSpc>
                <a:spcPct val="115000"/>
              </a:lnSpc>
            </a:pPr>
            <a:r>
              <a:rPr sz="2400">
                <a:solidFill>
                  <a:srgbClr val="CBD5E1"/>
                </a:solidFill>
                <a:latin typeface="Segoe UI Light"/>
              </a:rPr>
              <a:t>Ask your shop database a question in plain English. If the answer is wrong, it notices, fixes it, or tells you it can't.</a:t>
            </a:r>
          </a:p>
        </p:txBody>
      </p:sp>
      <p:sp>
        <p:nvSpPr>
          <p:cNvPr id="8" name="Rounded Rectangle 7"/>
          <p:cNvSpPr/>
          <p:nvPr/>
        </p:nvSpPr>
        <p:spPr>
          <a:xfrm>
            <a:off x="640080" y="3794760"/>
            <a:ext cx="2560320" cy="914400"/>
          </a:xfrm>
          <a:prstGeom prst="roundRect">
            <a:avLst>
              <a:gd name="adj" fmla="val 12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904487"/>
            <a:ext cx="2194560" cy="365760"/>
          </a:xfrm>
          <a:prstGeom prst="rect">
            <a:avLst/>
          </a:prstGeom>
          <a:noFill/>
        </p:spPr>
        <p:txBody>
          <a:bodyPr wrap="square" anchor="t" lIns="0" rIns="0" tIns="0" bIns="0">
            <a:spAutoFit/>
          </a:bodyPr>
          <a:lstStyle/>
          <a:p>
            <a:pPr algn="l">
              <a:lnSpc>
                <a:spcPct val="110000"/>
              </a:lnSpc>
            </a:pPr>
            <a:r>
              <a:rPr sz="2000">
                <a:solidFill>
                  <a:srgbClr val="FFFFFF"/>
                </a:solidFill>
                <a:latin typeface="Bahnschrift SemiBold"/>
              </a:rPr>
              <a:t>Executor</a:t>
            </a:r>
          </a:p>
        </p:txBody>
      </p:sp>
      <p:sp>
        <p:nvSpPr>
          <p:cNvPr id="10" name="TextBox 9"/>
          <p:cNvSpPr txBox="1"/>
          <p:nvPr/>
        </p:nvSpPr>
        <p:spPr>
          <a:xfrm>
            <a:off x="868680" y="4279392"/>
            <a:ext cx="2194560" cy="365760"/>
          </a:xfrm>
          <a:prstGeom prst="rect">
            <a:avLst/>
          </a:prstGeom>
          <a:noFill/>
        </p:spPr>
        <p:txBody>
          <a:bodyPr wrap="square" anchor="t" lIns="0" rIns="0" tIns="0" bIns="0">
            <a:spAutoFit/>
          </a:bodyPr>
          <a:lstStyle/>
          <a:p>
            <a:pPr algn="l">
              <a:lnSpc>
                <a:spcPct val="110000"/>
              </a:lnSpc>
            </a:pPr>
            <a:r>
              <a:rPr sz="1400">
                <a:solidFill>
                  <a:srgbClr val="FFFFFF"/>
                </a:solidFill>
                <a:latin typeface="Segoe UI"/>
              </a:rPr>
              <a:t>writes the SQL</a:t>
            </a:r>
          </a:p>
        </p:txBody>
      </p:sp>
      <p:sp>
        <p:nvSpPr>
          <p:cNvPr id="11" name="Rounded Rectangle 10"/>
          <p:cNvSpPr/>
          <p:nvPr/>
        </p:nvSpPr>
        <p:spPr>
          <a:xfrm>
            <a:off x="3383280" y="3794760"/>
            <a:ext cx="2560320" cy="914400"/>
          </a:xfrm>
          <a:prstGeom prst="roundRect">
            <a:avLst>
              <a:gd name="adj" fmla="val 12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3904487"/>
            <a:ext cx="2194560" cy="365760"/>
          </a:xfrm>
          <a:prstGeom prst="rect">
            <a:avLst/>
          </a:prstGeom>
          <a:noFill/>
        </p:spPr>
        <p:txBody>
          <a:bodyPr wrap="square" anchor="t" lIns="0" rIns="0" tIns="0" bIns="0">
            <a:spAutoFit/>
          </a:bodyPr>
          <a:lstStyle/>
          <a:p>
            <a:pPr algn="l">
              <a:lnSpc>
                <a:spcPct val="110000"/>
              </a:lnSpc>
            </a:pPr>
            <a:r>
              <a:rPr sz="2000">
                <a:solidFill>
                  <a:srgbClr val="FFFFFF"/>
                </a:solidFill>
                <a:latin typeface="Bahnschrift SemiBold"/>
              </a:rPr>
              <a:t>Monitor</a:t>
            </a:r>
          </a:p>
        </p:txBody>
      </p:sp>
      <p:sp>
        <p:nvSpPr>
          <p:cNvPr id="13" name="TextBox 12"/>
          <p:cNvSpPr txBox="1"/>
          <p:nvPr/>
        </p:nvSpPr>
        <p:spPr>
          <a:xfrm>
            <a:off x="3611880" y="4279392"/>
            <a:ext cx="2194560" cy="365760"/>
          </a:xfrm>
          <a:prstGeom prst="rect">
            <a:avLst/>
          </a:prstGeom>
          <a:noFill/>
        </p:spPr>
        <p:txBody>
          <a:bodyPr wrap="square" anchor="t" lIns="0" rIns="0" tIns="0" bIns="0">
            <a:spAutoFit/>
          </a:bodyPr>
          <a:lstStyle/>
          <a:p>
            <a:pPr algn="l">
              <a:lnSpc>
                <a:spcPct val="110000"/>
              </a:lnSpc>
            </a:pPr>
            <a:r>
              <a:rPr sz="1400">
                <a:solidFill>
                  <a:srgbClr val="FFFFFF"/>
                </a:solidFill>
                <a:latin typeface="Segoe UI"/>
              </a:rPr>
              <a:t>checks everything</a:t>
            </a:r>
          </a:p>
        </p:txBody>
      </p:sp>
      <p:sp>
        <p:nvSpPr>
          <p:cNvPr id="14" name="Rounded Rectangle 13"/>
          <p:cNvSpPr/>
          <p:nvPr/>
        </p:nvSpPr>
        <p:spPr>
          <a:xfrm>
            <a:off x="6126480" y="3794760"/>
            <a:ext cx="2560320" cy="914400"/>
          </a:xfrm>
          <a:prstGeom prst="roundRect">
            <a:avLst>
              <a:gd name="adj" fmla="val 12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904487"/>
            <a:ext cx="2194560" cy="365760"/>
          </a:xfrm>
          <a:prstGeom prst="rect">
            <a:avLst/>
          </a:prstGeom>
          <a:noFill/>
        </p:spPr>
        <p:txBody>
          <a:bodyPr wrap="square" anchor="t" lIns="0" rIns="0" tIns="0" bIns="0">
            <a:spAutoFit/>
          </a:bodyPr>
          <a:lstStyle/>
          <a:p>
            <a:pPr algn="l">
              <a:lnSpc>
                <a:spcPct val="110000"/>
              </a:lnSpc>
            </a:pPr>
            <a:r>
              <a:rPr sz="2000">
                <a:solidFill>
                  <a:srgbClr val="FFFFFF"/>
                </a:solidFill>
                <a:latin typeface="Bahnschrift SemiBold"/>
              </a:rPr>
              <a:t>Recovery</a:t>
            </a:r>
          </a:p>
        </p:txBody>
      </p:sp>
      <p:sp>
        <p:nvSpPr>
          <p:cNvPr id="16" name="TextBox 15"/>
          <p:cNvSpPr txBox="1"/>
          <p:nvPr/>
        </p:nvSpPr>
        <p:spPr>
          <a:xfrm>
            <a:off x="6355080" y="4279392"/>
            <a:ext cx="2194560" cy="365760"/>
          </a:xfrm>
          <a:prstGeom prst="rect">
            <a:avLst/>
          </a:prstGeom>
          <a:noFill/>
        </p:spPr>
        <p:txBody>
          <a:bodyPr wrap="square" anchor="t" lIns="0" rIns="0" tIns="0" bIns="0">
            <a:spAutoFit/>
          </a:bodyPr>
          <a:lstStyle/>
          <a:p>
            <a:pPr algn="l">
              <a:lnSpc>
                <a:spcPct val="110000"/>
              </a:lnSpc>
            </a:pPr>
            <a:r>
              <a:rPr sz="1400">
                <a:solidFill>
                  <a:srgbClr val="FFFFFF"/>
                </a:solidFill>
                <a:latin typeface="Segoe UI"/>
              </a:rPr>
              <a:t>fixes or stops</a:t>
            </a:r>
          </a:p>
        </p:txBody>
      </p:sp>
      <p:sp>
        <p:nvSpPr>
          <p:cNvPr id="17" name="Rounded Rectangle 16"/>
          <p:cNvSpPr/>
          <p:nvPr/>
        </p:nvSpPr>
        <p:spPr>
          <a:xfrm>
            <a:off x="8869680" y="3794760"/>
            <a:ext cx="2560320" cy="914400"/>
          </a:xfrm>
          <a:prstGeom prst="roundRect">
            <a:avLst>
              <a:gd name="adj" fmla="val 12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280" y="3904487"/>
            <a:ext cx="2194560" cy="365760"/>
          </a:xfrm>
          <a:prstGeom prst="rect">
            <a:avLst/>
          </a:prstGeom>
          <a:noFill/>
        </p:spPr>
        <p:txBody>
          <a:bodyPr wrap="square" anchor="t" lIns="0" rIns="0" tIns="0" bIns="0">
            <a:spAutoFit/>
          </a:bodyPr>
          <a:lstStyle/>
          <a:p>
            <a:pPr algn="l">
              <a:lnSpc>
                <a:spcPct val="110000"/>
              </a:lnSpc>
            </a:pPr>
            <a:r>
              <a:rPr sz="2000">
                <a:solidFill>
                  <a:srgbClr val="FFFFFF"/>
                </a:solidFill>
                <a:latin typeface="Bahnschrift SemiBold"/>
              </a:rPr>
              <a:t>A person</a:t>
            </a:r>
          </a:p>
        </p:txBody>
      </p:sp>
      <p:sp>
        <p:nvSpPr>
          <p:cNvPr id="19" name="TextBox 18"/>
          <p:cNvSpPr txBox="1"/>
          <p:nvPr/>
        </p:nvSpPr>
        <p:spPr>
          <a:xfrm>
            <a:off x="9098280" y="4279392"/>
            <a:ext cx="2194560" cy="365760"/>
          </a:xfrm>
          <a:prstGeom prst="rect">
            <a:avLst/>
          </a:prstGeom>
          <a:noFill/>
        </p:spPr>
        <p:txBody>
          <a:bodyPr wrap="square" anchor="t" lIns="0" rIns="0" tIns="0" bIns="0">
            <a:spAutoFit/>
          </a:bodyPr>
          <a:lstStyle/>
          <a:p>
            <a:pPr algn="l">
              <a:lnSpc>
                <a:spcPct val="110000"/>
              </a:lnSpc>
            </a:pPr>
            <a:r>
              <a:rPr sz="1400">
                <a:solidFill>
                  <a:srgbClr val="FFFFFF"/>
                </a:solidFill>
                <a:latin typeface="Segoe UI"/>
              </a:rPr>
              <a:t>approves personal data</a:t>
            </a:r>
          </a:p>
        </p:txBody>
      </p:sp>
      <p:sp>
        <p:nvSpPr>
          <p:cNvPr id="20" name="TextBox 19"/>
          <p:cNvSpPr txBox="1"/>
          <p:nvPr/>
        </p:nvSpPr>
        <p:spPr>
          <a:xfrm>
            <a:off x="640080" y="5120640"/>
            <a:ext cx="10972800" cy="365760"/>
          </a:xfrm>
          <a:prstGeom prst="rect">
            <a:avLst/>
          </a:prstGeom>
          <a:noFill/>
        </p:spPr>
        <p:txBody>
          <a:bodyPr wrap="square" anchor="t" lIns="0" rIns="0" tIns="0" bIns="0">
            <a:spAutoFit/>
          </a:bodyPr>
          <a:lstStyle/>
          <a:p>
            <a:pPr algn="l">
              <a:lnSpc>
                <a:spcPct val="110000"/>
              </a:lnSpc>
            </a:pPr>
            <a:r>
              <a:rPr sz="1600">
                <a:solidFill>
                  <a:srgbClr val="FBBF24"/>
                </a:solidFill>
                <a:latin typeface="Segoe UI Semibold"/>
              </a:rPr>
              <a:t>qwen2.5:3b  ·  LangGraph  ·  SQLite  ·  Chroma  ·  fully offline  ·  free</a:t>
            </a:r>
          </a:p>
        </p:txBody>
      </p:sp>
      <p:sp>
        <p:nvSpPr>
          <p:cNvPr id="21" name="TextBox 20"/>
          <p:cNvSpPr txBox="1"/>
          <p:nvPr/>
        </p:nvSpPr>
        <p:spPr>
          <a:xfrm>
            <a:off x="640080" y="5532120"/>
            <a:ext cx="10972800" cy="365760"/>
          </a:xfrm>
          <a:prstGeom prst="rect">
            <a:avLst/>
          </a:prstGeom>
          <a:noFill/>
        </p:spPr>
        <p:txBody>
          <a:bodyPr wrap="square" anchor="t" lIns="0" rIns="0" tIns="0" bIns="0">
            <a:spAutoFit/>
          </a:bodyPr>
          <a:lstStyle/>
          <a:p>
            <a:pPr algn="l">
              <a:lnSpc>
                <a:spcPct val="110000"/>
              </a:lnSpc>
            </a:pPr>
            <a:r>
              <a:rPr sz="1300">
                <a:solidFill>
                  <a:srgbClr val="CBD5E1"/>
                </a:solidFill>
                <a:latin typeface="Segoe UI"/>
              </a:rPr>
              <a:t>Swaraj Mandre  ·  Saumya Joshi  ·  Siddhant Pawar      Topic 17: an agent that detects and recovers from its own tool failures</a:t>
            </a:r>
          </a:p>
        </p:txBody>
      </p:sp>
      <p:sp>
        <p:nvSpPr>
          <p:cNvPr id="22" name="TextBox 21"/>
          <p:cNvSpPr txBox="1"/>
          <p:nvPr/>
        </p:nvSpPr>
        <p:spPr>
          <a:xfrm>
            <a:off x="640080" y="6446520"/>
            <a:ext cx="5486400" cy="274320"/>
          </a:xfrm>
          <a:prstGeom prst="rect">
            <a:avLst/>
          </a:prstGeom>
          <a:noFill/>
        </p:spPr>
        <p:txBody>
          <a:bodyPr wrap="square" anchor="t" lIns="0" rIns="0" tIns="0" bIns="0">
            <a:spAutoFit/>
          </a:bodyPr>
          <a:lstStyle/>
          <a:p>
            <a:pPr algn="l">
              <a:lnSpc>
                <a:spcPct val="110000"/>
              </a:lnSpc>
            </a:pPr>
            <a:r>
              <a:rPr sz="1100">
                <a:solidFill>
                  <a:srgbClr val="CBD5E1"/>
                </a:solidFill>
                <a:latin typeface="Segoe UI"/>
              </a:rPr>
              <a:t>QueryMend  ·  Group 17  ·  AIA_05</a:t>
            </a:r>
          </a:p>
        </p:txBody>
      </p:sp>
      <p:sp>
        <p:nvSpPr>
          <p:cNvPr id="23" name="TextBox 22"/>
          <p:cNvSpPr txBox="1"/>
          <p:nvPr/>
        </p:nvSpPr>
        <p:spPr>
          <a:xfrm>
            <a:off x="10637215" y="6446520"/>
            <a:ext cx="914400" cy="274320"/>
          </a:xfrm>
          <a:prstGeom prst="rect">
            <a:avLst/>
          </a:prstGeom>
          <a:noFill/>
        </p:spPr>
        <p:txBody>
          <a:bodyPr wrap="square" anchor="t" lIns="0" rIns="0" tIns="0" bIns="0">
            <a:spAutoFit/>
          </a:bodyPr>
          <a:lstStyle/>
          <a:p>
            <a:pPr algn="r">
              <a:lnSpc>
                <a:spcPct val="110000"/>
              </a:lnSpc>
            </a:pPr>
            <a:r>
              <a:rPr sz="1100">
                <a:solidFill>
                  <a:srgbClr val="CBD5E1"/>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384048"/>
            <a:ext cx="256032"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 y="384048"/>
            <a:ext cx="256032" cy="640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61872" y="384048"/>
            <a:ext cx="256032" cy="6400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384048"/>
            <a:ext cx="256032"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21792"/>
            <a:ext cx="10058400" cy="320040"/>
          </a:xfrm>
          <a:prstGeom prst="rect">
            <a:avLst/>
          </a:prstGeom>
          <a:noFill/>
        </p:spPr>
        <p:txBody>
          <a:bodyPr wrap="square" anchor="t" lIns="0" rIns="0" tIns="0" bIns="0">
            <a:spAutoFit/>
          </a:bodyPr>
          <a:lstStyle/>
          <a:p>
            <a:pPr algn="l">
              <a:lnSpc>
                <a:spcPct val="110000"/>
              </a:lnSpc>
            </a:pPr>
            <a:r>
              <a:rPr sz="1300" spc="150">
                <a:solidFill>
                  <a:srgbClr val="2563EB"/>
                </a:solidFill>
                <a:latin typeface="Segoe UI Semibold"/>
              </a:rPr>
              <a:t>PBA 1  ·  UNITS 1 AND 2</a:t>
            </a:r>
          </a:p>
        </p:txBody>
      </p:sp>
      <p:sp>
        <p:nvSpPr>
          <p:cNvPr id="7" name="TextBox 6"/>
          <p:cNvSpPr txBox="1"/>
          <p:nvPr/>
        </p:nvSpPr>
        <p:spPr>
          <a:xfrm>
            <a:off x="640080" y="932688"/>
            <a:ext cx="10881360" cy="914400"/>
          </a:xfrm>
          <a:prstGeom prst="rect">
            <a:avLst/>
          </a:prstGeom>
          <a:noFill/>
        </p:spPr>
        <p:txBody>
          <a:bodyPr wrap="square" anchor="t" lIns="0" rIns="0" tIns="0" bIns="0">
            <a:spAutoFit/>
          </a:bodyPr>
          <a:lstStyle/>
          <a:p>
            <a:pPr algn="l">
              <a:lnSpc>
                <a:spcPct val="100000"/>
              </a:lnSpc>
            </a:pPr>
            <a:r>
              <a:rPr sz="3400">
                <a:solidFill>
                  <a:srgbClr val="14213D"/>
                </a:solidFill>
                <a:latin typeface="Bahnschrift SemiBold"/>
              </a:rPr>
              <a:t>One agent that notices when its tool fails</a:t>
            </a:r>
          </a:p>
        </p:txBody>
      </p:sp>
      <p:pic>
        <p:nvPicPr>
          <p:cNvPr id="8" name="Picture 7" descr="01_pba1_agent.png"/>
          <p:cNvPicPr>
            <a:picLocks noChangeAspect="1"/>
          </p:cNvPicPr>
          <p:nvPr/>
        </p:nvPicPr>
        <p:blipFill>
          <a:blip r:embed="rId2"/>
          <a:stretch>
            <a:fillRect/>
          </a:stretch>
        </p:blipFill>
        <p:spPr>
          <a:xfrm>
            <a:off x="829491" y="1691640"/>
            <a:ext cx="4741817" cy="4526280"/>
          </a:xfrm>
          <a:prstGeom prst="rect">
            <a:avLst/>
          </a:prstGeom>
        </p:spPr>
      </p:pic>
      <p:sp>
        <p:nvSpPr>
          <p:cNvPr id="9" name="Rounded Rectangle 8"/>
          <p:cNvSpPr/>
          <p:nvPr/>
        </p:nvSpPr>
        <p:spPr>
          <a:xfrm>
            <a:off x="6172200" y="1783080"/>
            <a:ext cx="5376672" cy="1554480"/>
          </a:xfrm>
          <a:prstGeom prst="roundRect">
            <a:avLst>
              <a:gd name="adj" fmla="val 7058"/>
            </a:avLst>
          </a:prstGeom>
          <a:solidFill>
            <a:srgbClr val="FFE4E6"/>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783080"/>
            <a:ext cx="82296" cy="15544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2002536"/>
            <a:ext cx="4919472" cy="274320"/>
          </a:xfrm>
          <a:prstGeom prst="rect">
            <a:avLst/>
          </a:prstGeom>
          <a:noFill/>
        </p:spPr>
        <p:txBody>
          <a:bodyPr wrap="square" anchor="t" lIns="0" rIns="0" tIns="0" bIns="0">
            <a:spAutoFit/>
          </a:bodyPr>
          <a:lstStyle/>
          <a:p>
            <a:pPr algn="l">
              <a:lnSpc>
                <a:spcPct val="110000"/>
              </a:lnSpc>
            </a:pPr>
            <a:r>
              <a:rPr sz="1100" spc="120">
                <a:solidFill>
                  <a:srgbClr val="E11D48"/>
                </a:solidFill>
                <a:latin typeface="Segoe UI Semibold"/>
              </a:rPr>
              <a:t>THE SLIDE VERSION</a:t>
            </a:r>
          </a:p>
        </p:txBody>
      </p:sp>
      <p:sp>
        <p:nvSpPr>
          <p:cNvPr id="12" name="TextBox 11"/>
          <p:cNvSpPr txBox="1"/>
          <p:nvPr/>
        </p:nvSpPr>
        <p:spPr>
          <a:xfrm>
            <a:off x="6464808" y="2286000"/>
            <a:ext cx="4919472" cy="731520"/>
          </a:xfrm>
          <a:prstGeom prst="rect">
            <a:avLst/>
          </a:prstGeom>
          <a:noFill/>
        </p:spPr>
        <p:txBody>
          <a:bodyPr wrap="square" anchor="t" lIns="0" rIns="0" tIns="0" bIns="0">
            <a:spAutoFit/>
          </a:bodyPr>
          <a:lstStyle/>
          <a:p>
            <a:pPr algn="l">
              <a:lnSpc>
                <a:spcPct val="110000"/>
              </a:lnSpc>
            </a:pPr>
            <a:r>
              <a:rPr sz="2000">
                <a:solidFill>
                  <a:srgbClr val="14213D"/>
                </a:solidFill>
                <a:latin typeface="Segoe UI Semibold"/>
              </a:rPr>
              <a:t>One generic message for every error</a:t>
            </a:r>
          </a:p>
        </p:txBody>
      </p:sp>
      <p:sp>
        <p:nvSpPr>
          <p:cNvPr id="13" name="TextBox 12"/>
          <p:cNvSpPr txBox="1"/>
          <p:nvPr/>
        </p:nvSpPr>
        <p:spPr>
          <a:xfrm>
            <a:off x="6464808" y="2667000"/>
            <a:ext cx="4919472" cy="640080"/>
          </a:xfrm>
          <a:prstGeom prst="rect">
            <a:avLst/>
          </a:prstGeom>
          <a:noFill/>
        </p:spPr>
        <p:txBody>
          <a:bodyPr wrap="square" anchor="t" lIns="0" rIns="0" tIns="0" bIns="0">
            <a:spAutoFit/>
          </a:bodyPr>
          <a:lstStyle/>
          <a:p>
            <a:pPr algn="l">
              <a:lnSpc>
                <a:spcPct val="115000"/>
              </a:lnSpc>
            </a:pPr>
            <a:r>
              <a:rPr sz="1500">
                <a:solidFill>
                  <a:srgbClr val="374151"/>
                </a:solidFill>
                <a:latin typeface="Segoe UI"/>
              </a:rPr>
              <a:t>Sent the same broken query 7 times. Told a user to run a DELETE by hand.</a:t>
            </a:r>
          </a:p>
        </p:txBody>
      </p:sp>
      <p:sp>
        <p:nvSpPr>
          <p:cNvPr id="14" name="Rounded Rectangle 13"/>
          <p:cNvSpPr/>
          <p:nvPr/>
        </p:nvSpPr>
        <p:spPr>
          <a:xfrm>
            <a:off x="6172200" y="3520440"/>
            <a:ext cx="5376672" cy="1554480"/>
          </a:xfrm>
          <a:prstGeom prst="roundRect">
            <a:avLst>
              <a:gd name="adj" fmla="val 7058"/>
            </a:avLst>
          </a:prstGeom>
          <a:solidFill>
            <a:srgbClr val="D1FAE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3520440"/>
            <a:ext cx="82296" cy="155448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3739896"/>
            <a:ext cx="4919472" cy="274320"/>
          </a:xfrm>
          <a:prstGeom prst="rect">
            <a:avLst/>
          </a:prstGeom>
          <a:noFill/>
        </p:spPr>
        <p:txBody>
          <a:bodyPr wrap="square" anchor="t" lIns="0" rIns="0" tIns="0" bIns="0">
            <a:spAutoFit/>
          </a:bodyPr>
          <a:lstStyle/>
          <a:p>
            <a:pPr algn="l">
              <a:lnSpc>
                <a:spcPct val="110000"/>
              </a:lnSpc>
            </a:pPr>
            <a:r>
              <a:rPr sz="1100" spc="120">
                <a:solidFill>
                  <a:srgbClr val="059669"/>
                </a:solidFill>
                <a:latin typeface="Segoe UI Semibold"/>
              </a:rPr>
              <a:t>OUR REFINEMENT</a:t>
            </a:r>
          </a:p>
        </p:txBody>
      </p:sp>
      <p:sp>
        <p:nvSpPr>
          <p:cNvPr id="17" name="TextBox 16"/>
          <p:cNvSpPr txBox="1"/>
          <p:nvPr/>
        </p:nvSpPr>
        <p:spPr>
          <a:xfrm>
            <a:off x="6464808" y="4023360"/>
            <a:ext cx="4919472" cy="731520"/>
          </a:xfrm>
          <a:prstGeom prst="rect">
            <a:avLst/>
          </a:prstGeom>
          <a:noFill/>
        </p:spPr>
        <p:txBody>
          <a:bodyPr wrap="square" anchor="t" lIns="0" rIns="0" tIns="0" bIns="0">
            <a:spAutoFit/>
          </a:bodyPr>
          <a:lstStyle/>
          <a:p>
            <a:pPr algn="l">
              <a:lnSpc>
                <a:spcPct val="110000"/>
              </a:lnSpc>
            </a:pPr>
            <a:r>
              <a:rPr sz="2000">
                <a:solidFill>
                  <a:srgbClr val="14213D"/>
                </a:solidFill>
                <a:latin typeface="Segoe UI Semibold"/>
              </a:rPr>
              <a:t>Sort the error, then act on it</a:t>
            </a:r>
          </a:p>
        </p:txBody>
      </p:sp>
      <p:sp>
        <p:nvSpPr>
          <p:cNvPr id="18" name="TextBox 17"/>
          <p:cNvSpPr txBox="1"/>
          <p:nvPr/>
        </p:nvSpPr>
        <p:spPr>
          <a:xfrm>
            <a:off x="6464808" y="4404360"/>
            <a:ext cx="4919472" cy="640080"/>
          </a:xfrm>
          <a:prstGeom prst="rect">
            <a:avLst/>
          </a:prstGeom>
          <a:noFill/>
        </p:spPr>
        <p:txBody>
          <a:bodyPr wrap="square" anchor="t" lIns="0" rIns="0" tIns="0" bIns="0">
            <a:spAutoFit/>
          </a:bodyPr>
          <a:lstStyle/>
          <a:p>
            <a:pPr algn="l">
              <a:lnSpc>
                <a:spcPct val="115000"/>
              </a:lnSpc>
            </a:pPr>
            <a:r>
              <a:rPr sz="1500">
                <a:solidFill>
                  <a:srgbClr val="374151"/>
                </a:solidFill>
                <a:latin typeface="Segoe UI"/>
              </a:rPr>
              <a:t>A specific hint, at most 3 tries, and the tool is locked when retrying can't help.</a:t>
            </a:r>
          </a:p>
        </p:txBody>
      </p:sp>
      <p:sp>
        <p:nvSpPr>
          <p:cNvPr id="19" name="TextBox 18"/>
          <p:cNvSpPr txBox="1"/>
          <p:nvPr/>
        </p:nvSpPr>
        <p:spPr>
          <a:xfrm>
            <a:off x="6172200" y="5349240"/>
            <a:ext cx="5376672" cy="731520"/>
          </a:xfrm>
          <a:prstGeom prst="rect">
            <a:avLst/>
          </a:prstGeom>
          <a:noFill/>
        </p:spPr>
        <p:txBody>
          <a:bodyPr wrap="square" anchor="t" lIns="0" rIns="0" tIns="0" bIns="0">
            <a:spAutoFit/>
          </a:bodyPr>
          <a:lstStyle/>
          <a:p>
            <a:pPr algn="l">
              <a:lnSpc>
                <a:spcPct val="110000"/>
              </a:lnSpc>
            </a:pPr>
            <a:r>
              <a:rPr sz="1600">
                <a:solidFill>
                  <a:srgbClr val="E11D48"/>
                </a:solidFill>
                <a:latin typeface="Segoe UI Semibold"/>
              </a:rPr>
              <a:t>Blind spot: </a:t>
            </a:r>
            <a:r>
              <a:rPr sz="1600">
                <a:solidFill>
                  <a:srgbClr val="14213D"/>
                </a:solidFill>
                <a:latin typeface="Segoe UI"/>
              </a:rPr>
              <a:t>wrong data that raises no error goes straight to the user.</a:t>
            </a:r>
          </a:p>
        </p:txBody>
      </p:sp>
      <p:sp>
        <p:nvSpPr>
          <p:cNvPr id="20" name="TextBox 19"/>
          <p:cNvSpPr txBox="1"/>
          <p:nvPr/>
        </p:nvSpPr>
        <p:spPr>
          <a:xfrm>
            <a:off x="640080" y="6446520"/>
            <a:ext cx="5486400" cy="274320"/>
          </a:xfrm>
          <a:prstGeom prst="rect">
            <a:avLst/>
          </a:prstGeom>
          <a:noFill/>
        </p:spPr>
        <p:txBody>
          <a:bodyPr wrap="square" anchor="t" lIns="0" rIns="0" tIns="0" bIns="0">
            <a:spAutoFit/>
          </a:bodyPr>
          <a:lstStyle/>
          <a:p>
            <a:pPr algn="l">
              <a:lnSpc>
                <a:spcPct val="110000"/>
              </a:lnSpc>
            </a:pPr>
            <a:r>
              <a:rPr sz="1100">
                <a:solidFill>
                  <a:srgbClr val="64748B"/>
                </a:solidFill>
                <a:latin typeface="Segoe UI"/>
              </a:rPr>
              <a:t>QueryMend  ·  Group 17  ·  AIA_05</a:t>
            </a:r>
          </a:p>
        </p:txBody>
      </p:sp>
      <p:sp>
        <p:nvSpPr>
          <p:cNvPr id="21" name="TextBox 20"/>
          <p:cNvSpPr txBox="1"/>
          <p:nvPr/>
        </p:nvSpPr>
        <p:spPr>
          <a:xfrm>
            <a:off x="10637215" y="6446520"/>
            <a:ext cx="914400" cy="274320"/>
          </a:xfrm>
          <a:prstGeom prst="rect">
            <a:avLst/>
          </a:prstGeom>
          <a:noFill/>
        </p:spPr>
        <p:txBody>
          <a:bodyPr wrap="square" anchor="t" lIns="0" rIns="0" tIns="0" bIns="0">
            <a:spAutoFit/>
          </a:bodyPr>
          <a:lstStyle/>
          <a:p>
            <a:pPr algn="r">
              <a:lnSpc>
                <a:spcPct val="110000"/>
              </a:lnSpc>
            </a:pPr>
            <a:r>
              <a:rPr sz="1100">
                <a:solidFill>
                  <a:srgbClr val="64748B"/>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384048"/>
            <a:ext cx="256032"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 y="384048"/>
            <a:ext cx="256032" cy="640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61872" y="384048"/>
            <a:ext cx="256032" cy="6400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384048"/>
            <a:ext cx="256032"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21792"/>
            <a:ext cx="10058400" cy="320040"/>
          </a:xfrm>
          <a:prstGeom prst="rect">
            <a:avLst/>
          </a:prstGeom>
          <a:noFill/>
        </p:spPr>
        <p:txBody>
          <a:bodyPr wrap="square" anchor="t" lIns="0" rIns="0" tIns="0" bIns="0">
            <a:spAutoFit/>
          </a:bodyPr>
          <a:lstStyle/>
          <a:p>
            <a:pPr algn="l">
              <a:lnSpc>
                <a:spcPct val="110000"/>
              </a:lnSpc>
            </a:pPr>
            <a:r>
              <a:rPr sz="1300" spc="150">
                <a:solidFill>
                  <a:srgbClr val="2563EB"/>
                </a:solidFill>
                <a:latin typeface="Segoe UI Semibold"/>
              </a:rPr>
              <a:t>PBA 2  ·  UNITS 3 AND 4</a:t>
            </a:r>
          </a:p>
        </p:txBody>
      </p:sp>
      <p:sp>
        <p:nvSpPr>
          <p:cNvPr id="7" name="TextBox 6"/>
          <p:cNvSpPr txBox="1"/>
          <p:nvPr/>
        </p:nvSpPr>
        <p:spPr>
          <a:xfrm>
            <a:off x="640080" y="932688"/>
            <a:ext cx="10881360" cy="914400"/>
          </a:xfrm>
          <a:prstGeom prst="rect">
            <a:avLst/>
          </a:prstGeom>
          <a:noFill/>
        </p:spPr>
        <p:txBody>
          <a:bodyPr wrap="square" anchor="t" lIns="0" rIns="0" tIns="0" bIns="0">
            <a:spAutoFit/>
          </a:bodyPr>
          <a:lstStyle/>
          <a:p>
            <a:pPr algn="l">
              <a:lnSpc>
                <a:spcPct val="100000"/>
              </a:lnSpc>
            </a:pPr>
            <a:r>
              <a:rPr sz="3400">
                <a:solidFill>
                  <a:srgbClr val="14213D"/>
                </a:solidFill>
                <a:latin typeface="Bahnschrift SemiBold"/>
              </a:rPr>
              <a:t>Three agents, one job each</a:t>
            </a:r>
          </a:p>
        </p:txBody>
      </p:sp>
      <p:pic>
        <p:nvPicPr>
          <p:cNvPr id="8" name="Picture 7" descr="02_pba2_team.png"/>
          <p:cNvPicPr>
            <a:picLocks noChangeAspect="1"/>
          </p:cNvPicPr>
          <p:nvPr/>
        </p:nvPicPr>
        <p:blipFill>
          <a:blip r:embed="rId2"/>
          <a:stretch>
            <a:fillRect/>
          </a:stretch>
        </p:blipFill>
        <p:spPr>
          <a:xfrm>
            <a:off x="1465325" y="1600200"/>
            <a:ext cx="9258300" cy="3291840"/>
          </a:xfrm>
          <a:prstGeom prst="rect">
            <a:avLst/>
          </a:prstGeom>
        </p:spPr>
      </p:pic>
      <p:sp>
        <p:nvSpPr>
          <p:cNvPr id="9" name="Rounded Rectangle 8"/>
          <p:cNvSpPr/>
          <p:nvPr/>
        </p:nvSpPr>
        <p:spPr>
          <a:xfrm>
            <a:off x="640080" y="5074920"/>
            <a:ext cx="3511296" cy="1143000"/>
          </a:xfrm>
          <a:prstGeom prst="roundRect">
            <a:avLst>
              <a:gd name="adj" fmla="val 96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074920"/>
            <a:ext cx="82296" cy="1143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175504"/>
            <a:ext cx="3099815" cy="365760"/>
          </a:xfrm>
          <a:prstGeom prst="rect">
            <a:avLst/>
          </a:prstGeom>
          <a:noFill/>
        </p:spPr>
        <p:txBody>
          <a:bodyPr wrap="square" anchor="t" lIns="0" rIns="0" tIns="0" bIns="0">
            <a:spAutoFit/>
          </a:bodyPr>
          <a:lstStyle/>
          <a:p>
            <a:pPr algn="l">
              <a:lnSpc>
                <a:spcPct val="110000"/>
              </a:lnSpc>
            </a:pPr>
            <a:r>
              <a:rPr sz="1900">
                <a:solidFill>
                  <a:srgbClr val="2563EB"/>
                </a:solidFill>
                <a:latin typeface="Bahnschrift SemiBold"/>
              </a:rPr>
              <a:t>Executor</a:t>
            </a:r>
          </a:p>
        </p:txBody>
      </p:sp>
      <p:sp>
        <p:nvSpPr>
          <p:cNvPr id="12" name="TextBox 11"/>
          <p:cNvSpPr txBox="1"/>
          <p:nvPr/>
        </p:nvSpPr>
        <p:spPr>
          <a:xfrm>
            <a:off x="914400" y="5522976"/>
            <a:ext cx="3099815" cy="640080"/>
          </a:xfrm>
          <a:prstGeom prst="rect">
            <a:avLst/>
          </a:prstGeom>
          <a:noFill/>
        </p:spPr>
        <p:txBody>
          <a:bodyPr wrap="square" anchor="t" lIns="0" rIns="0" tIns="0" bIns="0">
            <a:spAutoFit/>
          </a:bodyPr>
          <a:lstStyle/>
          <a:p>
            <a:pPr algn="l">
              <a:lnSpc>
                <a:spcPct val="110000"/>
              </a:lnSpc>
            </a:pPr>
            <a:r>
              <a:rPr sz="1400">
                <a:solidFill>
                  <a:srgbClr val="14213D"/>
                </a:solidFill>
                <a:latin typeface="Segoe UI"/>
              </a:rPr>
              <a:t>Writes and runs the SQL. The only agent that touches the data.</a:t>
            </a:r>
          </a:p>
        </p:txBody>
      </p:sp>
      <p:sp>
        <p:nvSpPr>
          <p:cNvPr id="13" name="Rounded Rectangle 12"/>
          <p:cNvSpPr/>
          <p:nvPr/>
        </p:nvSpPr>
        <p:spPr>
          <a:xfrm>
            <a:off x="4334256" y="5074920"/>
            <a:ext cx="3511296" cy="1143000"/>
          </a:xfrm>
          <a:prstGeom prst="roundRect">
            <a:avLst>
              <a:gd name="adj" fmla="val 96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34256" y="5074920"/>
            <a:ext cx="82296" cy="1143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5175504"/>
            <a:ext cx="3099815" cy="365760"/>
          </a:xfrm>
          <a:prstGeom prst="rect">
            <a:avLst/>
          </a:prstGeom>
          <a:noFill/>
        </p:spPr>
        <p:txBody>
          <a:bodyPr wrap="square" anchor="t" lIns="0" rIns="0" tIns="0" bIns="0">
            <a:spAutoFit/>
          </a:bodyPr>
          <a:lstStyle/>
          <a:p>
            <a:pPr algn="l">
              <a:lnSpc>
                <a:spcPct val="110000"/>
              </a:lnSpc>
            </a:pPr>
            <a:r>
              <a:rPr sz="1900">
                <a:solidFill>
                  <a:srgbClr val="D97706"/>
                </a:solidFill>
                <a:latin typeface="Bahnschrift SemiBold"/>
              </a:rPr>
              <a:t>Monitor</a:t>
            </a:r>
          </a:p>
        </p:txBody>
      </p:sp>
      <p:sp>
        <p:nvSpPr>
          <p:cNvPr id="16" name="TextBox 15"/>
          <p:cNvSpPr txBox="1"/>
          <p:nvPr/>
        </p:nvSpPr>
        <p:spPr>
          <a:xfrm>
            <a:off x="4608576" y="5522976"/>
            <a:ext cx="3099815" cy="640080"/>
          </a:xfrm>
          <a:prstGeom prst="rect">
            <a:avLst/>
          </a:prstGeom>
          <a:noFill/>
        </p:spPr>
        <p:txBody>
          <a:bodyPr wrap="square" anchor="t" lIns="0" rIns="0" tIns="0" bIns="0">
            <a:spAutoFit/>
          </a:bodyPr>
          <a:lstStyle/>
          <a:p>
            <a:pPr algn="l">
              <a:lnSpc>
                <a:spcPct val="110000"/>
              </a:lnSpc>
            </a:pPr>
            <a:r>
              <a:rPr sz="1400">
                <a:solidFill>
                  <a:srgbClr val="14213D"/>
                </a:solidFill>
                <a:latin typeface="Segoe UI"/>
              </a:rPr>
              <a:t>Plain rules, no LLM. Checks every result and every answer.</a:t>
            </a:r>
          </a:p>
        </p:txBody>
      </p:sp>
      <p:sp>
        <p:nvSpPr>
          <p:cNvPr id="17" name="Rounded Rectangle 16"/>
          <p:cNvSpPr/>
          <p:nvPr/>
        </p:nvSpPr>
        <p:spPr>
          <a:xfrm>
            <a:off x="8028431" y="5074920"/>
            <a:ext cx="3511296" cy="1143000"/>
          </a:xfrm>
          <a:prstGeom prst="roundRect">
            <a:avLst>
              <a:gd name="adj" fmla="val 96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1" y="5074920"/>
            <a:ext cx="82296" cy="1143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5175504"/>
            <a:ext cx="3099815" cy="365760"/>
          </a:xfrm>
          <a:prstGeom prst="rect">
            <a:avLst/>
          </a:prstGeom>
          <a:noFill/>
        </p:spPr>
        <p:txBody>
          <a:bodyPr wrap="square" anchor="t" lIns="0" rIns="0" tIns="0" bIns="0">
            <a:spAutoFit/>
          </a:bodyPr>
          <a:lstStyle/>
          <a:p>
            <a:pPr algn="l">
              <a:lnSpc>
                <a:spcPct val="110000"/>
              </a:lnSpc>
            </a:pPr>
            <a:r>
              <a:rPr sz="1900">
                <a:solidFill>
                  <a:srgbClr val="059669"/>
                </a:solidFill>
                <a:latin typeface="Bahnschrift SemiBold"/>
              </a:rPr>
              <a:t>Recovery</a:t>
            </a:r>
          </a:p>
        </p:txBody>
      </p:sp>
      <p:sp>
        <p:nvSpPr>
          <p:cNvPr id="20" name="TextBox 19"/>
          <p:cNvSpPr txBox="1"/>
          <p:nvPr/>
        </p:nvSpPr>
        <p:spPr>
          <a:xfrm>
            <a:off x="8302752" y="5522976"/>
            <a:ext cx="3099815" cy="640080"/>
          </a:xfrm>
          <a:prstGeom prst="rect">
            <a:avLst/>
          </a:prstGeom>
          <a:noFill/>
        </p:spPr>
        <p:txBody>
          <a:bodyPr wrap="square" anchor="t" lIns="0" rIns="0" tIns="0" bIns="0">
            <a:spAutoFit/>
          </a:bodyPr>
          <a:lstStyle/>
          <a:p>
            <a:pPr algn="l">
              <a:lnSpc>
                <a:spcPct val="110000"/>
              </a:lnSpc>
            </a:pPr>
            <a:r>
              <a:rPr sz="1400">
                <a:solidFill>
                  <a:srgbClr val="14213D"/>
                </a:solidFill>
                <a:latin typeface="Segoe UI"/>
              </a:rPr>
              <a:t>Advice from our error guide, or a safe stop after 3 retries.</a:t>
            </a:r>
          </a:p>
        </p:txBody>
      </p:sp>
      <p:sp>
        <p:nvSpPr>
          <p:cNvPr id="21" name="TextBox 20"/>
          <p:cNvSpPr txBox="1"/>
          <p:nvPr/>
        </p:nvSpPr>
        <p:spPr>
          <a:xfrm>
            <a:off x="640080" y="6446520"/>
            <a:ext cx="5486400" cy="274320"/>
          </a:xfrm>
          <a:prstGeom prst="rect">
            <a:avLst/>
          </a:prstGeom>
          <a:noFill/>
        </p:spPr>
        <p:txBody>
          <a:bodyPr wrap="square" anchor="t" lIns="0" rIns="0" tIns="0" bIns="0">
            <a:spAutoFit/>
          </a:bodyPr>
          <a:lstStyle/>
          <a:p>
            <a:pPr algn="l">
              <a:lnSpc>
                <a:spcPct val="110000"/>
              </a:lnSpc>
            </a:pPr>
            <a:r>
              <a:rPr sz="1100">
                <a:solidFill>
                  <a:srgbClr val="64748B"/>
                </a:solidFill>
                <a:latin typeface="Segoe UI"/>
              </a:rPr>
              <a:t>QueryMend  ·  Group 17  ·  AIA_05</a:t>
            </a:r>
          </a:p>
        </p:txBody>
      </p:sp>
      <p:sp>
        <p:nvSpPr>
          <p:cNvPr id="22" name="TextBox 21"/>
          <p:cNvSpPr txBox="1"/>
          <p:nvPr/>
        </p:nvSpPr>
        <p:spPr>
          <a:xfrm>
            <a:off x="10637215" y="6446520"/>
            <a:ext cx="914400" cy="274320"/>
          </a:xfrm>
          <a:prstGeom prst="rect">
            <a:avLst/>
          </a:prstGeom>
          <a:noFill/>
        </p:spPr>
        <p:txBody>
          <a:bodyPr wrap="square" anchor="t" lIns="0" rIns="0" tIns="0" bIns="0">
            <a:spAutoFit/>
          </a:bodyPr>
          <a:lstStyle/>
          <a:p>
            <a:pPr algn="r">
              <a:lnSpc>
                <a:spcPct val="110000"/>
              </a:lnSpc>
            </a:pPr>
            <a:r>
              <a:rPr sz="1100">
                <a:solidFill>
                  <a:srgbClr val="64748B"/>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384048"/>
            <a:ext cx="256032"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 y="384048"/>
            <a:ext cx="256032" cy="640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61872" y="384048"/>
            <a:ext cx="256032" cy="6400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384048"/>
            <a:ext cx="256032"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21792"/>
            <a:ext cx="10058400" cy="320040"/>
          </a:xfrm>
          <a:prstGeom prst="rect">
            <a:avLst/>
          </a:prstGeom>
          <a:noFill/>
        </p:spPr>
        <p:txBody>
          <a:bodyPr wrap="square" anchor="t" lIns="0" rIns="0" tIns="0" bIns="0">
            <a:spAutoFit/>
          </a:bodyPr>
          <a:lstStyle/>
          <a:p>
            <a:pPr algn="l">
              <a:lnSpc>
                <a:spcPct val="110000"/>
              </a:lnSpc>
            </a:pPr>
            <a:r>
              <a:rPr sz="1300" spc="150">
                <a:solidFill>
                  <a:srgbClr val="2563EB"/>
                </a:solidFill>
                <a:latin typeface="Segoe UI Semibold"/>
              </a:rPr>
              <a:t>A REAL RUN</a:t>
            </a:r>
          </a:p>
        </p:txBody>
      </p:sp>
      <p:sp>
        <p:nvSpPr>
          <p:cNvPr id="7" name="TextBox 6"/>
          <p:cNvSpPr txBox="1"/>
          <p:nvPr/>
        </p:nvSpPr>
        <p:spPr>
          <a:xfrm>
            <a:off x="640080" y="932688"/>
            <a:ext cx="10881360" cy="914400"/>
          </a:xfrm>
          <a:prstGeom prst="rect">
            <a:avLst/>
          </a:prstGeom>
          <a:noFill/>
        </p:spPr>
        <p:txBody>
          <a:bodyPr wrap="square" anchor="t" lIns="0" rIns="0" tIns="0" bIns="0">
            <a:spAutoFit/>
          </a:bodyPr>
          <a:lstStyle/>
          <a:p>
            <a:pPr algn="l">
              <a:lnSpc>
                <a:spcPct val="100000"/>
              </a:lnSpc>
            </a:pPr>
            <a:r>
              <a:rPr sz="3400">
                <a:solidFill>
                  <a:srgbClr val="14213D"/>
                </a:solidFill>
                <a:latin typeface="Bahnschrift SemiBold"/>
              </a:rPr>
              <a:t>One question, two silent mistakes, both caught</a:t>
            </a:r>
          </a:p>
        </p:txBody>
      </p:sp>
      <p:pic>
        <p:nvPicPr>
          <p:cNvPr id="8" name="Picture 7" descr="05_one_recovery.png"/>
          <p:cNvPicPr>
            <a:picLocks noChangeAspect="1"/>
          </p:cNvPicPr>
          <p:nvPr/>
        </p:nvPicPr>
        <p:blipFill>
          <a:blip r:embed="rId2"/>
          <a:stretch>
            <a:fillRect/>
          </a:stretch>
        </p:blipFill>
        <p:spPr>
          <a:xfrm>
            <a:off x="848360" y="1645920"/>
            <a:ext cx="6350000" cy="4572000"/>
          </a:xfrm>
          <a:prstGeom prst="rect">
            <a:avLst/>
          </a:prstGeom>
        </p:spPr>
      </p:pic>
      <p:sp>
        <p:nvSpPr>
          <p:cNvPr id="9" name="Rounded Rectangle 8"/>
          <p:cNvSpPr/>
          <p:nvPr/>
        </p:nvSpPr>
        <p:spPr>
          <a:xfrm>
            <a:off x="7726679" y="1783080"/>
            <a:ext cx="3822191" cy="1188720"/>
          </a:xfrm>
          <a:prstGeom prst="roundRect">
            <a:avLst>
              <a:gd name="adj" fmla="val 923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1947672"/>
            <a:ext cx="548640" cy="822960"/>
          </a:xfrm>
          <a:prstGeom prst="rect">
            <a:avLst/>
          </a:prstGeom>
          <a:noFill/>
        </p:spPr>
        <p:txBody>
          <a:bodyPr wrap="square" anchor="t" lIns="0" rIns="0" tIns="0" bIns="0">
            <a:spAutoFit/>
          </a:bodyPr>
          <a:lstStyle/>
          <a:p>
            <a:pPr algn="l">
              <a:lnSpc>
                <a:spcPct val="110000"/>
              </a:lnSpc>
            </a:pPr>
            <a:r>
              <a:rPr sz="4000">
                <a:solidFill>
                  <a:srgbClr val="D97706"/>
                </a:solidFill>
                <a:latin typeface="Bahnschrift SemiBold"/>
              </a:rPr>
              <a:t>1</a:t>
            </a:r>
          </a:p>
        </p:txBody>
      </p:sp>
      <p:sp>
        <p:nvSpPr>
          <p:cNvPr id="11" name="TextBox 10"/>
          <p:cNvSpPr txBox="1"/>
          <p:nvPr/>
        </p:nvSpPr>
        <p:spPr>
          <a:xfrm>
            <a:off x="8549640" y="1965960"/>
            <a:ext cx="2880360" cy="365760"/>
          </a:xfrm>
          <a:prstGeom prst="rect">
            <a:avLst/>
          </a:prstGeom>
          <a:noFill/>
        </p:spPr>
        <p:txBody>
          <a:bodyPr wrap="square" anchor="t" lIns="0" rIns="0" tIns="0" bIns="0">
            <a:spAutoFit/>
          </a:bodyPr>
          <a:lstStyle/>
          <a:p>
            <a:pPr algn="l">
              <a:lnSpc>
                <a:spcPct val="110000"/>
              </a:lnSpc>
            </a:pPr>
            <a:r>
              <a:rPr sz="1800">
                <a:solidFill>
                  <a:srgbClr val="14213D"/>
                </a:solidFill>
                <a:latin typeface="Segoe UI Semibold"/>
              </a:rPr>
              <a:t>Ambiguous column</a:t>
            </a:r>
          </a:p>
        </p:txBody>
      </p:sp>
      <p:sp>
        <p:nvSpPr>
          <p:cNvPr id="12" name="TextBox 11"/>
          <p:cNvSpPr txBox="1"/>
          <p:nvPr/>
        </p:nvSpPr>
        <p:spPr>
          <a:xfrm>
            <a:off x="8549640" y="2313432"/>
            <a:ext cx="2880360" cy="640080"/>
          </a:xfrm>
          <a:prstGeom prst="rect">
            <a:avLst/>
          </a:prstGeom>
          <a:noFill/>
        </p:spPr>
        <p:txBody>
          <a:bodyPr wrap="square" anchor="t" lIns="0" rIns="0" tIns="0" bIns="0">
            <a:spAutoFit/>
          </a:bodyPr>
          <a:lstStyle/>
          <a:p>
            <a:pPr algn="l">
              <a:lnSpc>
                <a:spcPct val="110000"/>
              </a:lnSpc>
            </a:pPr>
            <a:r>
              <a:rPr sz="1350">
                <a:solidFill>
                  <a:srgbClr val="14213D"/>
                </a:solidFill>
                <a:latin typeface="Segoe UI"/>
              </a:rPr>
              <a:t>The tool errors. Recovery pulls advice from the guide.</a:t>
            </a:r>
          </a:p>
        </p:txBody>
      </p:sp>
      <p:sp>
        <p:nvSpPr>
          <p:cNvPr id="13" name="Rounded Rectangle 12"/>
          <p:cNvSpPr/>
          <p:nvPr/>
        </p:nvSpPr>
        <p:spPr>
          <a:xfrm>
            <a:off x="7726679" y="3154680"/>
            <a:ext cx="3822191" cy="1188720"/>
          </a:xfrm>
          <a:prstGeom prst="roundRect">
            <a:avLst>
              <a:gd name="adj" fmla="val 923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3319272"/>
            <a:ext cx="548640" cy="822960"/>
          </a:xfrm>
          <a:prstGeom prst="rect">
            <a:avLst/>
          </a:prstGeom>
          <a:noFill/>
        </p:spPr>
        <p:txBody>
          <a:bodyPr wrap="square" anchor="t" lIns="0" rIns="0" tIns="0" bIns="0">
            <a:spAutoFit/>
          </a:bodyPr>
          <a:lstStyle/>
          <a:p>
            <a:pPr algn="l">
              <a:lnSpc>
                <a:spcPct val="110000"/>
              </a:lnSpc>
            </a:pPr>
            <a:r>
              <a:rPr sz="4000">
                <a:solidFill>
                  <a:srgbClr val="E11D48"/>
                </a:solidFill>
                <a:latin typeface="Bahnschrift SemiBold"/>
              </a:rPr>
              <a:t>2</a:t>
            </a:r>
          </a:p>
        </p:txBody>
      </p:sp>
      <p:sp>
        <p:nvSpPr>
          <p:cNvPr id="15" name="TextBox 14"/>
          <p:cNvSpPr txBox="1"/>
          <p:nvPr/>
        </p:nvSpPr>
        <p:spPr>
          <a:xfrm>
            <a:off x="8549640" y="3337560"/>
            <a:ext cx="2880360" cy="365760"/>
          </a:xfrm>
          <a:prstGeom prst="rect">
            <a:avLst/>
          </a:prstGeom>
          <a:noFill/>
        </p:spPr>
        <p:txBody>
          <a:bodyPr wrap="square" anchor="t" lIns="0" rIns="0" tIns="0" bIns="0">
            <a:spAutoFit/>
          </a:bodyPr>
          <a:lstStyle/>
          <a:p>
            <a:pPr algn="l">
              <a:lnSpc>
                <a:spcPct val="110000"/>
              </a:lnSpc>
            </a:pPr>
            <a:r>
              <a:rPr sz="1800">
                <a:solidFill>
                  <a:srgbClr val="14213D"/>
                </a:solidFill>
                <a:latin typeface="Segoe UI Semibold"/>
              </a:rPr>
              <a:t>Missing GROUP BY</a:t>
            </a:r>
          </a:p>
        </p:txBody>
      </p:sp>
      <p:sp>
        <p:nvSpPr>
          <p:cNvPr id="16" name="TextBox 15"/>
          <p:cNvSpPr txBox="1"/>
          <p:nvPr/>
        </p:nvSpPr>
        <p:spPr>
          <a:xfrm>
            <a:off x="8549640" y="3685032"/>
            <a:ext cx="2880360" cy="640080"/>
          </a:xfrm>
          <a:prstGeom prst="rect">
            <a:avLst/>
          </a:prstGeom>
          <a:noFill/>
        </p:spPr>
        <p:txBody>
          <a:bodyPr wrap="square" anchor="t" lIns="0" rIns="0" tIns="0" bIns="0">
            <a:spAutoFit/>
          </a:bodyPr>
          <a:lstStyle/>
          <a:p>
            <a:pPr algn="l">
              <a:lnSpc>
                <a:spcPct val="110000"/>
              </a:lnSpc>
            </a:pPr>
            <a:r>
              <a:rPr sz="1350">
                <a:solidFill>
                  <a:srgbClr val="14213D"/>
                </a:solidFill>
                <a:latin typeface="Segoe UI"/>
              </a:rPr>
              <a:t>No error at all. The Monitor reads the SQL and quarantines it.</a:t>
            </a:r>
          </a:p>
        </p:txBody>
      </p:sp>
      <p:sp>
        <p:nvSpPr>
          <p:cNvPr id="17" name="Rounded Rectangle 16"/>
          <p:cNvSpPr/>
          <p:nvPr/>
        </p:nvSpPr>
        <p:spPr>
          <a:xfrm>
            <a:off x="7726679" y="4526280"/>
            <a:ext cx="3822191" cy="1188720"/>
          </a:xfrm>
          <a:prstGeom prst="roundRect">
            <a:avLst>
              <a:gd name="adj" fmla="val 923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4690872"/>
            <a:ext cx="548640" cy="822960"/>
          </a:xfrm>
          <a:prstGeom prst="rect">
            <a:avLst/>
          </a:prstGeom>
          <a:noFill/>
        </p:spPr>
        <p:txBody>
          <a:bodyPr wrap="square" anchor="t" lIns="0" rIns="0" tIns="0" bIns="0">
            <a:spAutoFit/>
          </a:bodyPr>
          <a:lstStyle/>
          <a:p>
            <a:pPr algn="l">
              <a:lnSpc>
                <a:spcPct val="110000"/>
              </a:lnSpc>
            </a:pPr>
            <a:r>
              <a:rPr sz="4000">
                <a:solidFill>
                  <a:srgbClr val="059669"/>
                </a:solidFill>
                <a:latin typeface="Bahnschrift SemiBold"/>
              </a:rPr>
              <a:t>3</a:t>
            </a:r>
          </a:p>
        </p:txBody>
      </p:sp>
      <p:sp>
        <p:nvSpPr>
          <p:cNvPr id="19" name="TextBox 18"/>
          <p:cNvSpPr txBox="1"/>
          <p:nvPr/>
        </p:nvSpPr>
        <p:spPr>
          <a:xfrm>
            <a:off x="8549640" y="4709160"/>
            <a:ext cx="2880360" cy="365760"/>
          </a:xfrm>
          <a:prstGeom prst="rect">
            <a:avLst/>
          </a:prstGeom>
          <a:noFill/>
        </p:spPr>
        <p:txBody>
          <a:bodyPr wrap="square" anchor="t" lIns="0" rIns="0" tIns="0" bIns="0">
            <a:spAutoFit/>
          </a:bodyPr>
          <a:lstStyle/>
          <a:p>
            <a:pPr algn="l">
              <a:lnSpc>
                <a:spcPct val="110000"/>
              </a:lnSpc>
            </a:pPr>
            <a:r>
              <a:rPr sz="1800">
                <a:solidFill>
                  <a:srgbClr val="14213D"/>
                </a:solidFill>
                <a:latin typeface="Segoe UI Semibold"/>
              </a:rPr>
              <a:t>Corrected query</a:t>
            </a:r>
          </a:p>
        </p:txBody>
      </p:sp>
      <p:sp>
        <p:nvSpPr>
          <p:cNvPr id="20" name="TextBox 19"/>
          <p:cNvSpPr txBox="1"/>
          <p:nvPr/>
        </p:nvSpPr>
        <p:spPr>
          <a:xfrm>
            <a:off x="8549640" y="5056632"/>
            <a:ext cx="2880360" cy="640080"/>
          </a:xfrm>
          <a:prstGeom prst="rect">
            <a:avLst/>
          </a:prstGeom>
          <a:noFill/>
        </p:spPr>
        <p:txBody>
          <a:bodyPr wrap="square" anchor="t" lIns="0" rIns="0" tIns="0" bIns="0">
            <a:spAutoFit/>
          </a:bodyPr>
          <a:lstStyle/>
          <a:p>
            <a:pPr algn="l">
              <a:lnSpc>
                <a:spcPct val="110000"/>
              </a:lnSpc>
            </a:pPr>
            <a:r>
              <a:rPr sz="1350">
                <a:solidFill>
                  <a:srgbClr val="14213D"/>
                </a:solidFill>
                <a:latin typeface="Segoe UI"/>
              </a:rPr>
              <a:t>5 rows. The answer matches the data.</a:t>
            </a:r>
          </a:p>
        </p:txBody>
      </p:sp>
      <p:sp>
        <p:nvSpPr>
          <p:cNvPr id="21" name="TextBox 20"/>
          <p:cNvSpPr txBox="1"/>
          <p:nvPr/>
        </p:nvSpPr>
        <p:spPr>
          <a:xfrm>
            <a:off x="7726679" y="5943600"/>
            <a:ext cx="3822191" cy="274320"/>
          </a:xfrm>
          <a:prstGeom prst="rect">
            <a:avLst/>
          </a:prstGeom>
          <a:noFill/>
        </p:spPr>
        <p:txBody>
          <a:bodyPr wrap="square" anchor="t" lIns="0" rIns="0" tIns="0" bIns="0">
            <a:spAutoFit/>
          </a:bodyPr>
          <a:lstStyle/>
          <a:p>
            <a:pPr algn="l">
              <a:lnSpc>
                <a:spcPct val="110000"/>
              </a:lnSpc>
            </a:pPr>
            <a:r>
              <a:rPr sz="1200">
                <a:solidFill>
                  <a:srgbClr val="64748B"/>
                </a:solidFill>
                <a:latin typeface="Consolas"/>
              </a:rPr>
              <a:t>traces/ta2/failures.txt</a:t>
            </a:r>
          </a:p>
        </p:txBody>
      </p:sp>
      <p:sp>
        <p:nvSpPr>
          <p:cNvPr id="22" name="TextBox 21"/>
          <p:cNvSpPr txBox="1"/>
          <p:nvPr/>
        </p:nvSpPr>
        <p:spPr>
          <a:xfrm>
            <a:off x="640080" y="6446520"/>
            <a:ext cx="5486400" cy="274320"/>
          </a:xfrm>
          <a:prstGeom prst="rect">
            <a:avLst/>
          </a:prstGeom>
          <a:noFill/>
        </p:spPr>
        <p:txBody>
          <a:bodyPr wrap="square" anchor="t" lIns="0" rIns="0" tIns="0" bIns="0">
            <a:spAutoFit/>
          </a:bodyPr>
          <a:lstStyle/>
          <a:p>
            <a:pPr algn="l">
              <a:lnSpc>
                <a:spcPct val="110000"/>
              </a:lnSpc>
            </a:pPr>
            <a:r>
              <a:rPr sz="1100">
                <a:solidFill>
                  <a:srgbClr val="64748B"/>
                </a:solidFill>
                <a:latin typeface="Segoe UI"/>
              </a:rPr>
              <a:t>QueryMend  ·  Group 17  ·  AIA_05</a:t>
            </a:r>
          </a:p>
        </p:txBody>
      </p:sp>
      <p:sp>
        <p:nvSpPr>
          <p:cNvPr id="23" name="TextBox 22"/>
          <p:cNvSpPr txBox="1"/>
          <p:nvPr/>
        </p:nvSpPr>
        <p:spPr>
          <a:xfrm>
            <a:off x="10637215" y="6446520"/>
            <a:ext cx="914400" cy="274320"/>
          </a:xfrm>
          <a:prstGeom prst="rect">
            <a:avLst/>
          </a:prstGeom>
          <a:noFill/>
        </p:spPr>
        <p:txBody>
          <a:bodyPr wrap="square" anchor="t" lIns="0" rIns="0" tIns="0" bIns="0">
            <a:spAutoFit/>
          </a:bodyPr>
          <a:lstStyle/>
          <a:p>
            <a:pPr algn="r">
              <a:lnSpc>
                <a:spcPct val="110000"/>
              </a:lnSpc>
            </a:pPr>
            <a:r>
              <a:rPr sz="1100">
                <a:solidFill>
                  <a:srgbClr val="64748B"/>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384048"/>
            <a:ext cx="256032"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 y="384048"/>
            <a:ext cx="256032" cy="640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61872" y="384048"/>
            <a:ext cx="256032" cy="6400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384048"/>
            <a:ext cx="256032"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21792"/>
            <a:ext cx="10058400" cy="320040"/>
          </a:xfrm>
          <a:prstGeom prst="rect">
            <a:avLst/>
          </a:prstGeom>
          <a:noFill/>
        </p:spPr>
        <p:txBody>
          <a:bodyPr wrap="square" anchor="t" lIns="0" rIns="0" tIns="0" bIns="0">
            <a:spAutoFit/>
          </a:bodyPr>
          <a:lstStyle/>
          <a:p>
            <a:pPr algn="l">
              <a:lnSpc>
                <a:spcPct val="110000"/>
              </a:lnSpc>
            </a:pPr>
            <a:r>
              <a:rPr sz="1300" spc="150">
                <a:solidFill>
                  <a:srgbClr val="2563EB"/>
                </a:solidFill>
                <a:latin typeface="Segoe UI Semibold"/>
              </a:rPr>
              <a:t>UNIT 3  ·  MEMORY AND RAG</a:t>
            </a:r>
          </a:p>
        </p:txBody>
      </p:sp>
      <p:sp>
        <p:nvSpPr>
          <p:cNvPr id="7" name="TextBox 6"/>
          <p:cNvSpPr txBox="1"/>
          <p:nvPr/>
        </p:nvSpPr>
        <p:spPr>
          <a:xfrm>
            <a:off x="640080" y="932688"/>
            <a:ext cx="10881360" cy="914400"/>
          </a:xfrm>
          <a:prstGeom prst="rect">
            <a:avLst/>
          </a:prstGeom>
          <a:noFill/>
        </p:spPr>
        <p:txBody>
          <a:bodyPr wrap="square" anchor="t" lIns="0" rIns="0" tIns="0" bIns="0">
            <a:spAutoFit/>
          </a:bodyPr>
          <a:lstStyle/>
          <a:p>
            <a:pPr algn="l">
              <a:lnSpc>
                <a:spcPct val="100000"/>
              </a:lnSpc>
            </a:pPr>
            <a:r>
              <a:rPr sz="3400">
                <a:solidFill>
                  <a:srgbClr val="14213D"/>
                </a:solidFill>
                <a:latin typeface="Bahnschrift SemiBold"/>
              </a:rPr>
              <a:t>It remembers, it resumes, it reads its own guide</a:t>
            </a:r>
          </a:p>
        </p:txBody>
      </p:sp>
      <p:pic>
        <p:nvPicPr>
          <p:cNvPr id="8" name="Picture 7" descr="03_memory_rag.png"/>
          <p:cNvPicPr>
            <a:picLocks noChangeAspect="1"/>
          </p:cNvPicPr>
          <p:nvPr/>
        </p:nvPicPr>
        <p:blipFill>
          <a:blip r:embed="rId2"/>
          <a:stretch>
            <a:fillRect/>
          </a:stretch>
        </p:blipFill>
        <p:spPr>
          <a:xfrm>
            <a:off x="640080" y="1915341"/>
            <a:ext cx="5943600" cy="4033157"/>
          </a:xfrm>
          <a:prstGeom prst="rect">
            <a:avLst/>
          </a:prstGeom>
        </p:spPr>
      </p:pic>
      <p:sp>
        <p:nvSpPr>
          <p:cNvPr id="9" name="Rounded Rectangle 8"/>
          <p:cNvSpPr/>
          <p:nvPr/>
        </p:nvSpPr>
        <p:spPr>
          <a:xfrm>
            <a:off x="6903720" y="1783080"/>
            <a:ext cx="4645152" cy="932688"/>
          </a:xfrm>
          <a:prstGeom prst="roundRect">
            <a:avLst>
              <a:gd name="adj" fmla="val 1176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0" y="1965960"/>
            <a:ext cx="1417320" cy="548640"/>
          </a:xfrm>
          <a:prstGeom prst="rect">
            <a:avLst/>
          </a:prstGeom>
          <a:noFill/>
        </p:spPr>
        <p:txBody>
          <a:bodyPr wrap="square" anchor="t" lIns="0" rIns="0" tIns="0" bIns="0">
            <a:spAutoFit/>
          </a:bodyPr>
          <a:lstStyle/>
          <a:p>
            <a:pPr algn="l">
              <a:lnSpc>
                <a:spcPct val="110000"/>
              </a:lnSpc>
            </a:pPr>
            <a:r>
              <a:rPr sz="2200">
                <a:solidFill>
                  <a:srgbClr val="2563EB"/>
                </a:solidFill>
                <a:latin typeface="Bahnschrift SemiBold"/>
              </a:rPr>
              <a:t>55 → 63</a:t>
            </a:r>
          </a:p>
        </p:txBody>
      </p:sp>
      <p:sp>
        <p:nvSpPr>
          <p:cNvPr id="11" name="TextBox 10"/>
          <p:cNvSpPr txBox="1"/>
          <p:nvPr/>
        </p:nvSpPr>
        <p:spPr>
          <a:xfrm>
            <a:off x="8549640" y="1938528"/>
            <a:ext cx="2880360" cy="731520"/>
          </a:xfrm>
          <a:prstGeom prst="rect">
            <a:avLst/>
          </a:prstGeom>
          <a:noFill/>
        </p:spPr>
        <p:txBody>
          <a:bodyPr wrap="square" anchor="t" lIns="0" rIns="0" tIns="0" bIns="0">
            <a:spAutoFit/>
          </a:bodyPr>
          <a:lstStyle/>
          <a:p>
            <a:pPr algn="l">
              <a:lnSpc>
                <a:spcPct val="110000"/>
              </a:lnSpc>
            </a:pPr>
            <a:r>
              <a:rPr sz="1350">
                <a:solidFill>
                  <a:srgbClr val="14213D"/>
                </a:solidFill>
                <a:latin typeface="Segoe UI"/>
              </a:rPr>
              <a:t>"And in September?" works with a checkpointer, and fails without one.</a:t>
            </a:r>
          </a:p>
        </p:txBody>
      </p:sp>
      <p:sp>
        <p:nvSpPr>
          <p:cNvPr id="12" name="Rounded Rectangle 11"/>
          <p:cNvSpPr/>
          <p:nvPr/>
        </p:nvSpPr>
        <p:spPr>
          <a:xfrm>
            <a:off x="6903720" y="2862072"/>
            <a:ext cx="4645152" cy="932688"/>
          </a:xfrm>
          <a:prstGeom prst="roundRect">
            <a:avLst>
              <a:gd name="adj" fmla="val 1176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0" y="3044952"/>
            <a:ext cx="1417320" cy="548640"/>
          </a:xfrm>
          <a:prstGeom prst="rect">
            <a:avLst/>
          </a:prstGeom>
          <a:noFill/>
        </p:spPr>
        <p:txBody>
          <a:bodyPr wrap="square" anchor="t" lIns="0" rIns="0" tIns="0" bIns="0">
            <a:spAutoFit/>
          </a:bodyPr>
          <a:lstStyle/>
          <a:p>
            <a:pPr algn="l">
              <a:lnSpc>
                <a:spcPct val="110000"/>
              </a:lnSpc>
            </a:pPr>
            <a:r>
              <a:rPr sz="2200">
                <a:solidFill>
                  <a:srgbClr val="2563EB"/>
                </a:solidFill>
                <a:latin typeface="Bahnschrift SemiBold"/>
              </a:rPr>
              <a:t>Restart</a:t>
            </a:r>
          </a:p>
        </p:txBody>
      </p:sp>
      <p:sp>
        <p:nvSpPr>
          <p:cNvPr id="14" name="TextBox 13"/>
          <p:cNvSpPr txBox="1"/>
          <p:nvPr/>
        </p:nvSpPr>
        <p:spPr>
          <a:xfrm>
            <a:off x="8549640" y="3017520"/>
            <a:ext cx="2880360" cy="731520"/>
          </a:xfrm>
          <a:prstGeom prst="rect">
            <a:avLst/>
          </a:prstGeom>
          <a:noFill/>
        </p:spPr>
        <p:txBody>
          <a:bodyPr wrap="square" anchor="t" lIns="0" rIns="0" tIns="0" bIns="0">
            <a:spAutoFit/>
          </a:bodyPr>
          <a:lstStyle/>
          <a:p>
            <a:pPr algn="l">
              <a:lnSpc>
                <a:spcPct val="110000"/>
              </a:lnSpc>
            </a:pPr>
            <a:r>
              <a:rPr sz="1350">
                <a:solidFill>
                  <a:srgbClr val="14213D"/>
                </a:solidFill>
                <a:latin typeface="Segoe UI"/>
              </a:rPr>
              <a:t>"Premium product = above Rs 1500" is recalled in a brand-new process.</a:t>
            </a:r>
          </a:p>
        </p:txBody>
      </p:sp>
      <p:sp>
        <p:nvSpPr>
          <p:cNvPr id="15" name="Rounded Rectangle 14"/>
          <p:cNvSpPr/>
          <p:nvPr/>
        </p:nvSpPr>
        <p:spPr>
          <a:xfrm>
            <a:off x="6903720" y="3941063"/>
            <a:ext cx="4645152" cy="932688"/>
          </a:xfrm>
          <a:prstGeom prst="roundRect">
            <a:avLst>
              <a:gd name="adj" fmla="val 1176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4123944"/>
            <a:ext cx="1417320" cy="548640"/>
          </a:xfrm>
          <a:prstGeom prst="rect">
            <a:avLst/>
          </a:prstGeom>
          <a:noFill/>
        </p:spPr>
        <p:txBody>
          <a:bodyPr wrap="square" anchor="t" lIns="0" rIns="0" tIns="0" bIns="0">
            <a:spAutoFit/>
          </a:bodyPr>
          <a:lstStyle/>
          <a:p>
            <a:pPr algn="l">
              <a:lnSpc>
                <a:spcPct val="110000"/>
              </a:lnSpc>
            </a:pPr>
            <a:r>
              <a:rPr sz="2200">
                <a:solidFill>
                  <a:srgbClr val="059669"/>
                </a:solidFill>
                <a:latin typeface="Bahnschrift SemiBold"/>
              </a:rPr>
              <a:t>k = 3</a:t>
            </a:r>
          </a:p>
        </p:txBody>
      </p:sp>
      <p:sp>
        <p:nvSpPr>
          <p:cNvPr id="17" name="TextBox 16"/>
          <p:cNvSpPr txBox="1"/>
          <p:nvPr/>
        </p:nvSpPr>
        <p:spPr>
          <a:xfrm>
            <a:off x="8549640" y="4096511"/>
            <a:ext cx="2880360" cy="731520"/>
          </a:xfrm>
          <a:prstGeom prst="rect">
            <a:avLst/>
          </a:prstGeom>
          <a:noFill/>
        </p:spPr>
        <p:txBody>
          <a:bodyPr wrap="square" anchor="t" lIns="0" rIns="0" tIns="0" bIns="0">
            <a:spAutoFit/>
          </a:bodyPr>
          <a:lstStyle/>
          <a:p>
            <a:pPr algn="l">
              <a:lnSpc>
                <a:spcPct val="110000"/>
              </a:lnSpc>
            </a:pPr>
            <a:r>
              <a:rPr sz="1350">
                <a:solidFill>
                  <a:srgbClr val="14213D"/>
                </a:solidFill>
                <a:latin typeface="Segoe UI"/>
              </a:rPr>
              <a:t>A two-part question gets both parts. "Connect to MySQL?" gets "I don't know".</a:t>
            </a:r>
          </a:p>
        </p:txBody>
      </p:sp>
      <p:sp>
        <p:nvSpPr>
          <p:cNvPr id="18" name="Rounded Rectangle 17"/>
          <p:cNvSpPr/>
          <p:nvPr/>
        </p:nvSpPr>
        <p:spPr>
          <a:xfrm>
            <a:off x="6903720" y="5020056"/>
            <a:ext cx="4645152" cy="932688"/>
          </a:xfrm>
          <a:prstGeom prst="roundRect">
            <a:avLst>
              <a:gd name="adj" fmla="val 1176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5202936"/>
            <a:ext cx="1417320" cy="548640"/>
          </a:xfrm>
          <a:prstGeom prst="rect">
            <a:avLst/>
          </a:prstGeom>
          <a:noFill/>
        </p:spPr>
        <p:txBody>
          <a:bodyPr wrap="square" anchor="t" lIns="0" rIns="0" tIns="0" bIns="0">
            <a:spAutoFit/>
          </a:bodyPr>
          <a:lstStyle/>
          <a:p>
            <a:pPr algn="l">
              <a:lnSpc>
                <a:spcPct val="110000"/>
              </a:lnSpc>
            </a:pPr>
            <a:r>
              <a:rPr sz="2200">
                <a:solidFill>
                  <a:srgbClr val="64748B"/>
                </a:solidFill>
                <a:latin typeface="Bahnschrift SemiBold"/>
              </a:rPr>
              <a:t>Logged</a:t>
            </a:r>
          </a:p>
        </p:txBody>
      </p:sp>
      <p:sp>
        <p:nvSpPr>
          <p:cNvPr id="20" name="TextBox 19"/>
          <p:cNvSpPr txBox="1"/>
          <p:nvPr/>
        </p:nvSpPr>
        <p:spPr>
          <a:xfrm>
            <a:off x="8549640" y="5175504"/>
            <a:ext cx="2880360" cy="731520"/>
          </a:xfrm>
          <a:prstGeom prst="rect">
            <a:avLst/>
          </a:prstGeom>
          <a:noFill/>
        </p:spPr>
        <p:txBody>
          <a:bodyPr wrap="square" anchor="t" lIns="0" rIns="0" tIns="0" bIns="0">
            <a:spAutoFit/>
          </a:bodyPr>
          <a:lstStyle/>
          <a:p>
            <a:pPr algn="l">
              <a:lnSpc>
                <a:spcPct val="110000"/>
              </a:lnSpc>
            </a:pPr>
            <a:r>
              <a:rPr sz="1350">
                <a:solidFill>
                  <a:srgbClr val="14213D"/>
                </a:solidFill>
                <a:latin typeface="Segoe UI"/>
              </a:rPr>
              <a:t>Every failure, its SQL and what Recovery decided, in SQLite.</a:t>
            </a:r>
          </a:p>
        </p:txBody>
      </p:sp>
      <p:sp>
        <p:nvSpPr>
          <p:cNvPr id="21" name="TextBox 20"/>
          <p:cNvSpPr txBox="1"/>
          <p:nvPr/>
        </p:nvSpPr>
        <p:spPr>
          <a:xfrm>
            <a:off x="640080" y="6446520"/>
            <a:ext cx="5486400" cy="274320"/>
          </a:xfrm>
          <a:prstGeom prst="rect">
            <a:avLst/>
          </a:prstGeom>
          <a:noFill/>
        </p:spPr>
        <p:txBody>
          <a:bodyPr wrap="square" anchor="t" lIns="0" rIns="0" tIns="0" bIns="0">
            <a:spAutoFit/>
          </a:bodyPr>
          <a:lstStyle/>
          <a:p>
            <a:pPr algn="l">
              <a:lnSpc>
                <a:spcPct val="110000"/>
              </a:lnSpc>
            </a:pPr>
            <a:r>
              <a:rPr sz="1100">
                <a:solidFill>
                  <a:srgbClr val="64748B"/>
                </a:solidFill>
                <a:latin typeface="Segoe UI"/>
              </a:rPr>
              <a:t>QueryMend  ·  Group 17  ·  AIA_05</a:t>
            </a:r>
          </a:p>
        </p:txBody>
      </p:sp>
      <p:sp>
        <p:nvSpPr>
          <p:cNvPr id="22" name="TextBox 21"/>
          <p:cNvSpPr txBox="1"/>
          <p:nvPr/>
        </p:nvSpPr>
        <p:spPr>
          <a:xfrm>
            <a:off x="10637215" y="6446520"/>
            <a:ext cx="914400" cy="274320"/>
          </a:xfrm>
          <a:prstGeom prst="rect">
            <a:avLst/>
          </a:prstGeom>
          <a:noFill/>
        </p:spPr>
        <p:txBody>
          <a:bodyPr wrap="square" anchor="t" lIns="0" rIns="0" tIns="0" bIns="0">
            <a:spAutoFit/>
          </a:bodyPr>
          <a:lstStyle/>
          <a:p>
            <a:pPr algn="r">
              <a:lnSpc>
                <a:spcPct val="110000"/>
              </a:lnSpc>
            </a:pPr>
            <a:r>
              <a:rPr sz="1100">
                <a:solidFill>
                  <a:srgbClr val="64748B"/>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384048"/>
            <a:ext cx="256032"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 y="384048"/>
            <a:ext cx="256032" cy="640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61872" y="384048"/>
            <a:ext cx="256032" cy="6400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384048"/>
            <a:ext cx="256032"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21792"/>
            <a:ext cx="10058400" cy="320040"/>
          </a:xfrm>
          <a:prstGeom prst="rect">
            <a:avLst/>
          </a:prstGeom>
          <a:noFill/>
        </p:spPr>
        <p:txBody>
          <a:bodyPr wrap="square" anchor="t" lIns="0" rIns="0" tIns="0" bIns="0">
            <a:spAutoFit/>
          </a:bodyPr>
          <a:lstStyle/>
          <a:p>
            <a:pPr algn="l">
              <a:lnSpc>
                <a:spcPct val="110000"/>
              </a:lnSpc>
            </a:pPr>
            <a:r>
              <a:rPr sz="1300" spc="150">
                <a:solidFill>
                  <a:srgbClr val="2563EB"/>
                </a:solidFill>
                <a:latin typeface="Segoe UI Semibold"/>
              </a:rPr>
              <a:t>ERROR PROPAGATION  ·  10 RUNS EACH</a:t>
            </a:r>
          </a:p>
        </p:txBody>
      </p:sp>
      <p:sp>
        <p:nvSpPr>
          <p:cNvPr id="7" name="TextBox 6"/>
          <p:cNvSpPr txBox="1"/>
          <p:nvPr/>
        </p:nvSpPr>
        <p:spPr>
          <a:xfrm>
            <a:off x="640080" y="932688"/>
            <a:ext cx="10881360" cy="914400"/>
          </a:xfrm>
          <a:prstGeom prst="rect">
            <a:avLst/>
          </a:prstGeom>
          <a:noFill/>
        </p:spPr>
        <p:txBody>
          <a:bodyPr wrap="square" anchor="t" lIns="0" rIns="0" tIns="0" bIns="0">
            <a:spAutoFit/>
          </a:bodyPr>
          <a:lstStyle/>
          <a:p>
            <a:pPr algn="l">
              <a:lnSpc>
                <a:spcPct val="100000"/>
              </a:lnSpc>
            </a:pPr>
            <a:r>
              <a:rPr sz="3400">
                <a:solidFill>
                  <a:srgbClr val="14213D"/>
                </a:solidFill>
                <a:latin typeface="Bahnschrift SemiBold"/>
              </a:rPr>
              <a:t>With the Monitor on, a bad number stops spreading</a:t>
            </a:r>
          </a:p>
        </p:txBody>
      </p:sp>
      <p:pic>
        <p:nvPicPr>
          <p:cNvPr id="8" name="Picture 7" descr="04_containment.png"/>
          <p:cNvPicPr>
            <a:picLocks noChangeAspect="1"/>
          </p:cNvPicPr>
          <p:nvPr/>
        </p:nvPicPr>
        <p:blipFill>
          <a:blip r:embed="rId2"/>
          <a:stretch>
            <a:fillRect/>
          </a:stretch>
        </p:blipFill>
        <p:spPr>
          <a:xfrm>
            <a:off x="1217713" y="1691640"/>
            <a:ext cx="5519853" cy="4526280"/>
          </a:xfrm>
          <a:prstGeom prst="rect">
            <a:avLst/>
          </a:prstGeom>
        </p:spPr>
      </p:pic>
      <p:sp>
        <p:nvSpPr>
          <p:cNvPr id="9" name="Rounded Rectangle 8"/>
          <p:cNvSpPr/>
          <p:nvPr/>
        </p:nvSpPr>
        <p:spPr>
          <a:xfrm>
            <a:off x="7589520" y="1783080"/>
            <a:ext cx="3959352" cy="1965960"/>
          </a:xfrm>
          <a:prstGeom prst="roundRect">
            <a:avLst>
              <a:gd name="adj" fmla="val 5581"/>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1984248"/>
            <a:ext cx="3410712" cy="990600"/>
          </a:xfrm>
          <a:prstGeom prst="rect">
            <a:avLst/>
          </a:prstGeom>
          <a:noFill/>
        </p:spPr>
        <p:txBody>
          <a:bodyPr wrap="square" anchor="t" lIns="0" rIns="0" tIns="0" bIns="0">
            <a:spAutoFit/>
          </a:bodyPr>
          <a:lstStyle/>
          <a:p>
            <a:pPr algn="l">
              <a:lnSpc>
                <a:spcPct val="110000"/>
              </a:lnSpc>
            </a:pPr>
            <a:r>
              <a:rPr sz="6000">
                <a:solidFill>
                  <a:srgbClr val="E11D48"/>
                </a:solidFill>
                <a:latin typeface="Bahnschrift SemiBold"/>
              </a:rPr>
              <a:t>10 / 10</a:t>
            </a:r>
          </a:p>
        </p:txBody>
      </p:sp>
      <p:sp>
        <p:nvSpPr>
          <p:cNvPr id="11" name="TextBox 10"/>
          <p:cNvSpPr txBox="1"/>
          <p:nvPr/>
        </p:nvSpPr>
        <p:spPr>
          <a:xfrm>
            <a:off x="7863840" y="3066288"/>
            <a:ext cx="3410712" cy="594359"/>
          </a:xfrm>
          <a:prstGeom prst="rect">
            <a:avLst/>
          </a:prstGeom>
          <a:noFill/>
        </p:spPr>
        <p:txBody>
          <a:bodyPr wrap="square" anchor="t" lIns="0" rIns="0" tIns="0" bIns="0">
            <a:spAutoFit/>
          </a:bodyPr>
          <a:lstStyle/>
          <a:p>
            <a:pPr algn="l">
              <a:lnSpc>
                <a:spcPct val="115000"/>
              </a:lnSpc>
            </a:pPr>
            <a:r>
              <a:rPr sz="1500">
                <a:solidFill>
                  <a:srgbClr val="14213D"/>
                </a:solidFill>
                <a:latin typeface="Segoe UI"/>
              </a:rPr>
              <a:t>Monitor off: the wrong number was carried into the follow-up answer.</a:t>
            </a:r>
          </a:p>
        </p:txBody>
      </p:sp>
      <p:sp>
        <p:nvSpPr>
          <p:cNvPr id="12" name="Rounded Rectangle 11"/>
          <p:cNvSpPr/>
          <p:nvPr/>
        </p:nvSpPr>
        <p:spPr>
          <a:xfrm>
            <a:off x="7589520" y="3931920"/>
            <a:ext cx="3959352" cy="1965960"/>
          </a:xfrm>
          <a:prstGeom prst="roundRect">
            <a:avLst>
              <a:gd name="adj" fmla="val 5581"/>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4133087"/>
            <a:ext cx="3410712" cy="990600"/>
          </a:xfrm>
          <a:prstGeom prst="rect">
            <a:avLst/>
          </a:prstGeom>
          <a:noFill/>
        </p:spPr>
        <p:txBody>
          <a:bodyPr wrap="square" anchor="t" lIns="0" rIns="0" tIns="0" bIns="0">
            <a:spAutoFit/>
          </a:bodyPr>
          <a:lstStyle/>
          <a:p>
            <a:pPr algn="l">
              <a:lnSpc>
                <a:spcPct val="110000"/>
              </a:lnSpc>
            </a:pPr>
            <a:r>
              <a:rPr sz="6000">
                <a:solidFill>
                  <a:srgbClr val="059669"/>
                </a:solidFill>
                <a:latin typeface="Bahnschrift SemiBold"/>
              </a:rPr>
              <a:t>0 / 10</a:t>
            </a:r>
          </a:p>
        </p:txBody>
      </p:sp>
      <p:sp>
        <p:nvSpPr>
          <p:cNvPr id="14" name="TextBox 13"/>
          <p:cNvSpPr txBox="1"/>
          <p:nvPr/>
        </p:nvSpPr>
        <p:spPr>
          <a:xfrm>
            <a:off x="7863840" y="5215128"/>
            <a:ext cx="3410712" cy="594359"/>
          </a:xfrm>
          <a:prstGeom prst="rect">
            <a:avLst/>
          </a:prstGeom>
          <a:noFill/>
        </p:spPr>
        <p:txBody>
          <a:bodyPr wrap="square" anchor="t" lIns="0" rIns="0" tIns="0" bIns="0">
            <a:spAutoFit/>
          </a:bodyPr>
          <a:lstStyle/>
          <a:p>
            <a:pPr algn="l">
              <a:lnSpc>
                <a:spcPct val="115000"/>
              </a:lnSpc>
            </a:pPr>
            <a:r>
              <a:rPr sz="1500">
                <a:solidFill>
                  <a:srgbClr val="14213D"/>
                </a:solidFill>
                <a:latin typeface="Segoe UI"/>
              </a:rPr>
              <a:t>Monitor on: quarantined before any agent could read it.</a:t>
            </a:r>
          </a:p>
        </p:txBody>
      </p:sp>
      <p:sp>
        <p:nvSpPr>
          <p:cNvPr id="15" name="TextBox 14"/>
          <p:cNvSpPr txBox="1"/>
          <p:nvPr/>
        </p:nvSpPr>
        <p:spPr>
          <a:xfrm>
            <a:off x="7589520" y="5989320"/>
            <a:ext cx="3959352" cy="274320"/>
          </a:xfrm>
          <a:prstGeom prst="rect">
            <a:avLst/>
          </a:prstGeom>
          <a:noFill/>
        </p:spPr>
        <p:txBody>
          <a:bodyPr wrap="square" anchor="t" lIns="0" rIns="0" tIns="0" bIns="0">
            <a:spAutoFit/>
          </a:bodyPr>
          <a:lstStyle/>
          <a:p>
            <a:pPr algn="l">
              <a:lnSpc>
                <a:spcPct val="110000"/>
              </a:lnSpc>
            </a:pPr>
            <a:r>
              <a:rPr sz="1400">
                <a:solidFill>
                  <a:srgbClr val="D97706"/>
                </a:solidFill>
                <a:latin typeface="Segoe UI Semibold"/>
              </a:rPr>
              <a:t>Cost: </a:t>
            </a:r>
            <a:r>
              <a:rPr sz="1400">
                <a:solidFill>
                  <a:srgbClr val="14213D"/>
                </a:solidFill>
                <a:latin typeface="Segoe UI"/>
              </a:rPr>
              <a:t>2 extra model calls, about 2 seconds.</a:t>
            </a:r>
          </a:p>
        </p:txBody>
      </p:sp>
      <p:sp>
        <p:nvSpPr>
          <p:cNvPr id="16" name="TextBox 15"/>
          <p:cNvSpPr txBox="1"/>
          <p:nvPr/>
        </p:nvSpPr>
        <p:spPr>
          <a:xfrm>
            <a:off x="640080" y="6446520"/>
            <a:ext cx="5486400" cy="274320"/>
          </a:xfrm>
          <a:prstGeom prst="rect">
            <a:avLst/>
          </a:prstGeom>
          <a:noFill/>
        </p:spPr>
        <p:txBody>
          <a:bodyPr wrap="square" anchor="t" lIns="0" rIns="0" tIns="0" bIns="0">
            <a:spAutoFit/>
          </a:bodyPr>
          <a:lstStyle/>
          <a:p>
            <a:pPr algn="l">
              <a:lnSpc>
                <a:spcPct val="110000"/>
              </a:lnSpc>
            </a:pPr>
            <a:r>
              <a:rPr sz="1100">
                <a:solidFill>
                  <a:srgbClr val="64748B"/>
                </a:solidFill>
                <a:latin typeface="Segoe UI"/>
              </a:rPr>
              <a:t>QueryMend  ·  Group 17  ·  AIA_05</a:t>
            </a:r>
          </a:p>
        </p:txBody>
      </p:sp>
      <p:sp>
        <p:nvSpPr>
          <p:cNvPr id="17" name="TextBox 16"/>
          <p:cNvSpPr txBox="1"/>
          <p:nvPr/>
        </p:nvSpPr>
        <p:spPr>
          <a:xfrm>
            <a:off x="10637215" y="6446520"/>
            <a:ext cx="914400" cy="274320"/>
          </a:xfrm>
          <a:prstGeom prst="rect">
            <a:avLst/>
          </a:prstGeom>
          <a:noFill/>
        </p:spPr>
        <p:txBody>
          <a:bodyPr wrap="square" anchor="t" lIns="0" rIns="0" tIns="0" bIns="0">
            <a:spAutoFit/>
          </a:bodyPr>
          <a:lstStyle/>
          <a:p>
            <a:pPr algn="r">
              <a:lnSpc>
                <a:spcPct val="110000"/>
              </a:lnSpc>
            </a:pPr>
            <a:r>
              <a:rPr sz="1100">
                <a:solidFill>
                  <a:srgbClr val="64748B"/>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384048"/>
            <a:ext cx="256032"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 y="384048"/>
            <a:ext cx="256032" cy="640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61872" y="384048"/>
            <a:ext cx="256032" cy="6400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384048"/>
            <a:ext cx="256032"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21792"/>
            <a:ext cx="10058400" cy="320040"/>
          </a:xfrm>
          <a:prstGeom prst="rect">
            <a:avLst/>
          </a:prstGeom>
          <a:noFill/>
        </p:spPr>
        <p:txBody>
          <a:bodyPr wrap="square" anchor="t" lIns="0" rIns="0" tIns="0" bIns="0">
            <a:spAutoFit/>
          </a:bodyPr>
          <a:lstStyle/>
          <a:p>
            <a:pPr algn="l">
              <a:lnSpc>
                <a:spcPct val="110000"/>
              </a:lnSpc>
            </a:pPr>
            <a:r>
              <a:rPr sz="1300" spc="150">
                <a:solidFill>
                  <a:srgbClr val="2563EB"/>
                </a:solidFill>
                <a:latin typeface="Segoe UI Semibold"/>
              </a:rPr>
              <a:t>SAME 5 CASES  ·  PBA 1 VS PBA 2  ·  3 RUNS EACH</a:t>
            </a:r>
          </a:p>
        </p:txBody>
      </p:sp>
      <p:sp>
        <p:nvSpPr>
          <p:cNvPr id="7" name="TextBox 6"/>
          <p:cNvSpPr txBox="1"/>
          <p:nvPr/>
        </p:nvSpPr>
        <p:spPr>
          <a:xfrm>
            <a:off x="640080" y="932688"/>
            <a:ext cx="10881360" cy="914400"/>
          </a:xfrm>
          <a:prstGeom prst="rect">
            <a:avLst/>
          </a:prstGeom>
          <a:noFill/>
        </p:spPr>
        <p:txBody>
          <a:bodyPr wrap="square" anchor="t" lIns="0" rIns="0" tIns="0" bIns="0">
            <a:spAutoFit/>
          </a:bodyPr>
          <a:lstStyle/>
          <a:p>
            <a:pPr algn="l">
              <a:lnSpc>
                <a:spcPct val="100000"/>
              </a:lnSpc>
            </a:pPr>
            <a:r>
              <a:rPr sz="3400">
                <a:solidFill>
                  <a:srgbClr val="14213D"/>
                </a:solidFill>
                <a:latin typeface="Bahnschrift SemiBold"/>
              </a:rPr>
              <a:t>Fewer wrong answers, more model calls. Both are true.</a:t>
            </a:r>
          </a:p>
        </p:txBody>
      </p:sp>
      <p:sp>
        <p:nvSpPr>
          <p:cNvPr id="8" name="Rounded Rectangle 7"/>
          <p:cNvSpPr/>
          <p:nvPr/>
        </p:nvSpPr>
        <p:spPr>
          <a:xfrm>
            <a:off x="640080" y="1828800"/>
            <a:ext cx="2587752" cy="2286000"/>
          </a:xfrm>
          <a:prstGeom prst="roundRect">
            <a:avLst>
              <a:gd name="adj" fmla="val 48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29968"/>
            <a:ext cx="2039112" cy="825500"/>
          </a:xfrm>
          <a:prstGeom prst="rect">
            <a:avLst/>
          </a:prstGeom>
          <a:noFill/>
        </p:spPr>
        <p:txBody>
          <a:bodyPr wrap="square" anchor="t" lIns="0" rIns="0" tIns="0" bIns="0">
            <a:spAutoFit/>
          </a:bodyPr>
          <a:lstStyle/>
          <a:p>
            <a:pPr algn="l">
              <a:lnSpc>
                <a:spcPct val="110000"/>
              </a:lnSpc>
            </a:pPr>
            <a:r>
              <a:rPr sz="5000">
                <a:solidFill>
                  <a:srgbClr val="059669"/>
                </a:solidFill>
                <a:latin typeface="Bahnschrift SemiBold"/>
              </a:rPr>
              <a:t>4 → 0</a:t>
            </a:r>
          </a:p>
        </p:txBody>
      </p:sp>
      <p:sp>
        <p:nvSpPr>
          <p:cNvPr id="10" name="TextBox 9"/>
          <p:cNvSpPr txBox="1"/>
          <p:nvPr/>
        </p:nvSpPr>
        <p:spPr>
          <a:xfrm>
            <a:off x="914400" y="2946907"/>
            <a:ext cx="2039112" cy="914400"/>
          </a:xfrm>
          <a:prstGeom prst="rect">
            <a:avLst/>
          </a:prstGeom>
          <a:noFill/>
        </p:spPr>
        <p:txBody>
          <a:bodyPr wrap="square" anchor="t" lIns="0" rIns="0" tIns="0" bIns="0">
            <a:spAutoFit/>
          </a:bodyPr>
          <a:lstStyle/>
          <a:p>
            <a:pPr algn="l">
              <a:lnSpc>
                <a:spcPct val="115000"/>
              </a:lnSpc>
            </a:pPr>
            <a:r>
              <a:rPr sz="1500">
                <a:solidFill>
                  <a:srgbClr val="14213D"/>
                </a:solidFill>
                <a:latin typeface="Segoe UI"/>
              </a:rPr>
              <a:t>wrong answers given to the user, out of 15 runs</a:t>
            </a:r>
          </a:p>
        </p:txBody>
      </p:sp>
      <p:sp>
        <p:nvSpPr>
          <p:cNvPr id="11" name="Rounded Rectangle 10"/>
          <p:cNvSpPr/>
          <p:nvPr/>
        </p:nvSpPr>
        <p:spPr>
          <a:xfrm>
            <a:off x="3410712" y="1828800"/>
            <a:ext cx="2587752" cy="2286000"/>
          </a:xfrm>
          <a:prstGeom prst="roundRect">
            <a:avLst>
              <a:gd name="adj" fmla="val 48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85032" y="2029968"/>
            <a:ext cx="2039112" cy="825500"/>
          </a:xfrm>
          <a:prstGeom prst="rect">
            <a:avLst/>
          </a:prstGeom>
          <a:noFill/>
        </p:spPr>
        <p:txBody>
          <a:bodyPr wrap="square" anchor="t" lIns="0" rIns="0" tIns="0" bIns="0">
            <a:spAutoFit/>
          </a:bodyPr>
          <a:lstStyle/>
          <a:p>
            <a:pPr algn="l">
              <a:lnSpc>
                <a:spcPct val="110000"/>
              </a:lnSpc>
            </a:pPr>
            <a:r>
              <a:rPr sz="5000">
                <a:solidFill>
                  <a:srgbClr val="059669"/>
                </a:solidFill>
                <a:latin typeface="Bahnschrift SemiBold"/>
              </a:rPr>
              <a:t>0 → 3</a:t>
            </a:r>
          </a:p>
        </p:txBody>
      </p:sp>
      <p:sp>
        <p:nvSpPr>
          <p:cNvPr id="13" name="TextBox 12"/>
          <p:cNvSpPr txBox="1"/>
          <p:nvPr/>
        </p:nvSpPr>
        <p:spPr>
          <a:xfrm>
            <a:off x="3685032" y="2946907"/>
            <a:ext cx="2039112" cy="914400"/>
          </a:xfrm>
          <a:prstGeom prst="rect">
            <a:avLst/>
          </a:prstGeom>
          <a:noFill/>
        </p:spPr>
        <p:txBody>
          <a:bodyPr wrap="square" anchor="t" lIns="0" rIns="0" tIns="0" bIns="0">
            <a:spAutoFit/>
          </a:bodyPr>
          <a:lstStyle/>
          <a:p>
            <a:pPr algn="l">
              <a:lnSpc>
                <a:spcPct val="115000"/>
              </a:lnSpc>
            </a:pPr>
            <a:r>
              <a:rPr sz="1500">
                <a:solidFill>
                  <a:srgbClr val="14213D"/>
                </a:solidFill>
                <a:latin typeface="Segoe UI"/>
              </a:rPr>
              <a:t>silent corruptions caught, out of 3</a:t>
            </a:r>
          </a:p>
        </p:txBody>
      </p:sp>
      <p:sp>
        <p:nvSpPr>
          <p:cNvPr id="14" name="Rounded Rectangle 13"/>
          <p:cNvSpPr/>
          <p:nvPr/>
        </p:nvSpPr>
        <p:spPr>
          <a:xfrm>
            <a:off x="6181344" y="1828800"/>
            <a:ext cx="2587752" cy="2286000"/>
          </a:xfrm>
          <a:prstGeom prst="roundRect">
            <a:avLst>
              <a:gd name="adj" fmla="val 48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29968"/>
            <a:ext cx="2039112" cy="825500"/>
          </a:xfrm>
          <a:prstGeom prst="rect">
            <a:avLst/>
          </a:prstGeom>
          <a:noFill/>
        </p:spPr>
        <p:txBody>
          <a:bodyPr wrap="square" anchor="t" lIns="0" rIns="0" tIns="0" bIns="0">
            <a:spAutoFit/>
          </a:bodyPr>
          <a:lstStyle/>
          <a:p>
            <a:pPr algn="l">
              <a:lnSpc>
                <a:spcPct val="110000"/>
              </a:lnSpc>
            </a:pPr>
            <a:r>
              <a:rPr sz="5000">
                <a:solidFill>
                  <a:srgbClr val="D97706"/>
                </a:solidFill>
                <a:latin typeface="Bahnschrift SemiBold"/>
              </a:rPr>
              <a:t>2 → 6</a:t>
            </a:r>
          </a:p>
        </p:txBody>
      </p:sp>
      <p:sp>
        <p:nvSpPr>
          <p:cNvPr id="16" name="TextBox 15"/>
          <p:cNvSpPr txBox="1"/>
          <p:nvPr/>
        </p:nvSpPr>
        <p:spPr>
          <a:xfrm>
            <a:off x="6455664" y="2946907"/>
            <a:ext cx="2039112" cy="914400"/>
          </a:xfrm>
          <a:prstGeom prst="rect">
            <a:avLst/>
          </a:prstGeom>
          <a:noFill/>
        </p:spPr>
        <p:txBody>
          <a:bodyPr wrap="square" anchor="t" lIns="0" rIns="0" tIns="0" bIns="0">
            <a:spAutoFit/>
          </a:bodyPr>
          <a:lstStyle/>
          <a:p>
            <a:pPr algn="l">
              <a:lnSpc>
                <a:spcPct val="115000"/>
              </a:lnSpc>
            </a:pPr>
            <a:r>
              <a:rPr sz="1500">
                <a:solidFill>
                  <a:srgbClr val="14213D"/>
                </a:solidFill>
                <a:latin typeface="Segoe UI"/>
              </a:rPr>
              <a:t>model calls when the data is corrupt</a:t>
            </a:r>
          </a:p>
        </p:txBody>
      </p:sp>
      <p:sp>
        <p:nvSpPr>
          <p:cNvPr id="17" name="Rounded Rectangle 16"/>
          <p:cNvSpPr/>
          <p:nvPr/>
        </p:nvSpPr>
        <p:spPr>
          <a:xfrm>
            <a:off x="8951976" y="1828800"/>
            <a:ext cx="2587752" cy="2286000"/>
          </a:xfrm>
          <a:prstGeom prst="roundRect">
            <a:avLst>
              <a:gd name="adj" fmla="val 48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26296" y="2029968"/>
            <a:ext cx="2039112" cy="825500"/>
          </a:xfrm>
          <a:prstGeom prst="rect">
            <a:avLst/>
          </a:prstGeom>
          <a:noFill/>
        </p:spPr>
        <p:txBody>
          <a:bodyPr wrap="square" anchor="t" lIns="0" rIns="0" tIns="0" bIns="0">
            <a:spAutoFit/>
          </a:bodyPr>
          <a:lstStyle/>
          <a:p>
            <a:pPr algn="l">
              <a:lnSpc>
                <a:spcPct val="110000"/>
              </a:lnSpc>
            </a:pPr>
            <a:r>
              <a:rPr sz="5000">
                <a:solidFill>
                  <a:srgbClr val="D97706"/>
                </a:solidFill>
                <a:latin typeface="Bahnschrift SemiBold"/>
              </a:rPr>
              <a:t>+1</a:t>
            </a:r>
          </a:p>
        </p:txBody>
      </p:sp>
      <p:sp>
        <p:nvSpPr>
          <p:cNvPr id="19" name="TextBox 18"/>
          <p:cNvSpPr txBox="1"/>
          <p:nvPr/>
        </p:nvSpPr>
        <p:spPr>
          <a:xfrm>
            <a:off x="9226296" y="2946907"/>
            <a:ext cx="2039112" cy="914400"/>
          </a:xfrm>
          <a:prstGeom prst="rect">
            <a:avLst/>
          </a:prstGeom>
          <a:noFill/>
        </p:spPr>
        <p:txBody>
          <a:bodyPr wrap="square" anchor="t" lIns="0" rIns="0" tIns="0" bIns="0">
            <a:spAutoFit/>
          </a:bodyPr>
          <a:lstStyle/>
          <a:p>
            <a:pPr algn="l">
              <a:lnSpc>
                <a:spcPct val="115000"/>
              </a:lnSpc>
            </a:pPr>
            <a:r>
              <a:rPr sz="1500">
                <a:solidFill>
                  <a:srgbClr val="14213D"/>
                </a:solidFill>
                <a:latin typeface="Segoe UI"/>
              </a:rPr>
              <a:t>model call even on a clean question</a:t>
            </a:r>
          </a:p>
        </p:txBody>
      </p:sp>
      <p:sp>
        <p:nvSpPr>
          <p:cNvPr id="20" name="TextBox 19"/>
          <p:cNvSpPr txBox="1"/>
          <p:nvPr/>
        </p:nvSpPr>
        <p:spPr>
          <a:xfrm>
            <a:off x="640080" y="4279392"/>
            <a:ext cx="5486400" cy="274320"/>
          </a:xfrm>
          <a:prstGeom prst="rect">
            <a:avLst/>
          </a:prstGeom>
          <a:noFill/>
        </p:spPr>
        <p:txBody>
          <a:bodyPr wrap="square" anchor="t" lIns="0" rIns="0" tIns="0" bIns="0">
            <a:spAutoFit/>
          </a:bodyPr>
          <a:lstStyle/>
          <a:p>
            <a:pPr algn="l">
              <a:lnSpc>
                <a:spcPct val="110000"/>
              </a:lnSpc>
            </a:pPr>
            <a:r>
              <a:rPr sz="1100" spc="120">
                <a:solidFill>
                  <a:srgbClr val="059669"/>
                </a:solidFill>
                <a:latin typeface="Segoe UI Semibold"/>
              </a:rPr>
              <a:t>GOOD NEWS</a:t>
            </a:r>
          </a:p>
        </p:txBody>
      </p:sp>
      <p:sp>
        <p:nvSpPr>
          <p:cNvPr id="21" name="TextBox 20"/>
          <p:cNvSpPr txBox="1"/>
          <p:nvPr/>
        </p:nvSpPr>
        <p:spPr>
          <a:xfrm>
            <a:off x="6181344" y="4279392"/>
            <a:ext cx="5486400" cy="274320"/>
          </a:xfrm>
          <a:prstGeom prst="rect">
            <a:avLst/>
          </a:prstGeom>
          <a:noFill/>
        </p:spPr>
        <p:txBody>
          <a:bodyPr wrap="square" anchor="t" lIns="0" rIns="0" tIns="0" bIns="0">
            <a:spAutoFit/>
          </a:bodyPr>
          <a:lstStyle/>
          <a:p>
            <a:pPr algn="l">
              <a:lnSpc>
                <a:spcPct val="110000"/>
              </a:lnSpc>
            </a:pPr>
            <a:r>
              <a:rPr sz="1100" spc="120">
                <a:solidFill>
                  <a:srgbClr val="D97706"/>
                </a:solidFill>
                <a:latin typeface="Segoe UI Semibold"/>
              </a:rPr>
              <a:t>THE PRICE</a:t>
            </a:r>
          </a:p>
        </p:txBody>
      </p:sp>
      <p:sp>
        <p:nvSpPr>
          <p:cNvPr id="22" name="Rounded Rectangle 21"/>
          <p:cNvSpPr/>
          <p:nvPr/>
        </p:nvSpPr>
        <p:spPr>
          <a:xfrm>
            <a:off x="640080" y="4709160"/>
            <a:ext cx="10908792" cy="1417320"/>
          </a:xfrm>
          <a:prstGeom prst="roundRect">
            <a:avLst>
              <a:gd name="adj" fmla="val 7741"/>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873752"/>
            <a:ext cx="10241280" cy="365760"/>
          </a:xfrm>
          <a:prstGeom prst="rect">
            <a:avLst/>
          </a:prstGeom>
          <a:noFill/>
        </p:spPr>
        <p:txBody>
          <a:bodyPr wrap="square" anchor="t" lIns="0" rIns="0" tIns="0" bIns="0">
            <a:spAutoFit/>
          </a:bodyPr>
          <a:lstStyle/>
          <a:p>
            <a:pPr algn="l">
              <a:lnSpc>
                <a:spcPct val="110000"/>
              </a:lnSpc>
            </a:pPr>
            <a:r>
              <a:rPr sz="1100" spc="120">
                <a:solidFill>
                  <a:srgbClr val="FBBF24"/>
                </a:solidFill>
                <a:latin typeface="Segoe UI Semibold"/>
              </a:rPr>
              <a:t>FOUND BY OUR OWN TESTS</a:t>
            </a:r>
          </a:p>
        </p:txBody>
      </p:sp>
      <p:sp>
        <p:nvSpPr>
          <p:cNvPr id="24" name="TextBox 23"/>
          <p:cNvSpPr txBox="1"/>
          <p:nvPr/>
        </p:nvSpPr>
        <p:spPr>
          <a:xfrm>
            <a:off x="1005840" y="5193792"/>
            <a:ext cx="10241280" cy="822960"/>
          </a:xfrm>
          <a:prstGeom prst="rect">
            <a:avLst/>
          </a:prstGeom>
          <a:noFill/>
        </p:spPr>
        <p:txBody>
          <a:bodyPr wrap="square" anchor="t" lIns="0" rIns="0" tIns="0" bIns="0">
            <a:spAutoFit/>
          </a:bodyPr>
          <a:lstStyle/>
          <a:p>
            <a:pPr algn="l">
              <a:lnSpc>
                <a:spcPct val="115000"/>
              </a:lnSpc>
            </a:pPr>
            <a:r>
              <a:rPr sz="1700">
                <a:solidFill>
                  <a:srgbClr val="FFFFFF"/>
                </a:solidFill>
                <a:latin typeface="Segoe UI"/>
              </a:rPr>
              <a:t>A missing GROUP BY slipped past every number check. The Monitor now reads the SQL too. Clean question: 3/3 wrong became 3/3 correct.</a:t>
            </a:r>
          </a:p>
        </p:txBody>
      </p:sp>
      <p:sp>
        <p:nvSpPr>
          <p:cNvPr id="25" name="TextBox 24"/>
          <p:cNvSpPr txBox="1"/>
          <p:nvPr/>
        </p:nvSpPr>
        <p:spPr>
          <a:xfrm>
            <a:off x="640080" y="6446520"/>
            <a:ext cx="5486400" cy="274320"/>
          </a:xfrm>
          <a:prstGeom prst="rect">
            <a:avLst/>
          </a:prstGeom>
          <a:noFill/>
        </p:spPr>
        <p:txBody>
          <a:bodyPr wrap="square" anchor="t" lIns="0" rIns="0" tIns="0" bIns="0">
            <a:spAutoFit/>
          </a:bodyPr>
          <a:lstStyle/>
          <a:p>
            <a:pPr algn="l">
              <a:lnSpc>
                <a:spcPct val="110000"/>
              </a:lnSpc>
            </a:pPr>
            <a:r>
              <a:rPr sz="1100">
                <a:solidFill>
                  <a:srgbClr val="64748B"/>
                </a:solidFill>
                <a:latin typeface="Segoe UI"/>
              </a:rPr>
              <a:t>QueryMend  ·  Group 17  ·  AIA_05</a:t>
            </a:r>
          </a:p>
        </p:txBody>
      </p:sp>
      <p:sp>
        <p:nvSpPr>
          <p:cNvPr id="26" name="TextBox 25"/>
          <p:cNvSpPr txBox="1"/>
          <p:nvPr/>
        </p:nvSpPr>
        <p:spPr>
          <a:xfrm>
            <a:off x="10637215" y="6446520"/>
            <a:ext cx="914400" cy="274320"/>
          </a:xfrm>
          <a:prstGeom prst="rect">
            <a:avLst/>
          </a:prstGeom>
          <a:noFill/>
        </p:spPr>
        <p:txBody>
          <a:bodyPr wrap="square" anchor="t" lIns="0" rIns="0" tIns="0" bIns="0">
            <a:spAutoFit/>
          </a:bodyPr>
          <a:lstStyle/>
          <a:p>
            <a:pPr algn="r">
              <a:lnSpc>
                <a:spcPct val="110000"/>
              </a:lnSpc>
            </a:pPr>
            <a:r>
              <a:rPr sz="1100">
                <a:solidFill>
                  <a:srgbClr val="64748B"/>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384048"/>
            <a:ext cx="256032"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 y="384048"/>
            <a:ext cx="256032" cy="640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61872" y="384048"/>
            <a:ext cx="256032" cy="6400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384048"/>
            <a:ext cx="256032"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21792"/>
            <a:ext cx="10058400" cy="320040"/>
          </a:xfrm>
          <a:prstGeom prst="rect">
            <a:avLst/>
          </a:prstGeom>
          <a:noFill/>
        </p:spPr>
        <p:txBody>
          <a:bodyPr wrap="square" anchor="t" lIns="0" rIns="0" tIns="0" bIns="0">
            <a:spAutoFit/>
          </a:bodyPr>
          <a:lstStyle/>
          <a:p>
            <a:pPr algn="l">
              <a:lnSpc>
                <a:spcPct val="110000"/>
              </a:lnSpc>
            </a:pPr>
            <a:r>
              <a:rPr sz="1300" spc="150">
                <a:solidFill>
                  <a:srgbClr val="2563EB"/>
                </a:solidFill>
                <a:latin typeface="Segoe UI Semibold"/>
              </a:rPr>
              <a:t>LIVE DEMO</a:t>
            </a:r>
          </a:p>
        </p:txBody>
      </p:sp>
      <p:sp>
        <p:nvSpPr>
          <p:cNvPr id="7" name="TextBox 6"/>
          <p:cNvSpPr txBox="1"/>
          <p:nvPr/>
        </p:nvSpPr>
        <p:spPr>
          <a:xfrm>
            <a:off x="640080" y="932688"/>
            <a:ext cx="10881360" cy="914400"/>
          </a:xfrm>
          <a:prstGeom prst="rect">
            <a:avLst/>
          </a:prstGeom>
          <a:noFill/>
        </p:spPr>
        <p:txBody>
          <a:bodyPr wrap="square" anchor="t" lIns="0" rIns="0" tIns="0" bIns="0">
            <a:spAutoFit/>
          </a:bodyPr>
          <a:lstStyle/>
          <a:p>
            <a:pPr algn="l">
              <a:lnSpc>
                <a:spcPct val="100000"/>
              </a:lnSpc>
            </a:pPr>
            <a:r>
              <a:rPr sz="3400">
                <a:solidFill>
                  <a:srgbClr val="14213D"/>
                </a:solidFill>
                <a:latin typeface="Bahnschrift SemiBold"/>
              </a:rPr>
              <a:t>Four runs, about three minutes</a:t>
            </a:r>
          </a:p>
        </p:txBody>
      </p:sp>
      <p:sp>
        <p:nvSpPr>
          <p:cNvPr id="8" name="Oval 7"/>
          <p:cNvSpPr/>
          <p:nvPr/>
        </p:nvSpPr>
        <p:spPr>
          <a:xfrm>
            <a:off x="640080" y="1874519"/>
            <a:ext cx="566928" cy="566928"/>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74519"/>
            <a:ext cx="566928" cy="566928"/>
          </a:xfrm>
          <a:prstGeom prst="rect">
            <a:avLst/>
          </a:prstGeom>
          <a:noFill/>
        </p:spPr>
        <p:txBody>
          <a:bodyPr wrap="square" anchor="ctr" lIns="0" rIns="0" tIns="0" bIns="0">
            <a:spAutoFit/>
          </a:bodyPr>
          <a:lstStyle/>
          <a:p>
            <a:pPr algn="ctr">
              <a:lnSpc>
                <a:spcPct val="110000"/>
              </a:lnSpc>
            </a:pPr>
            <a:r>
              <a:rPr sz="2200">
                <a:solidFill>
                  <a:srgbClr val="FFFFFF"/>
                </a:solidFill>
                <a:latin typeface="Bahnschrift SemiBold"/>
              </a:rPr>
              <a:t>1</a:t>
            </a:r>
          </a:p>
        </p:txBody>
      </p:sp>
      <p:sp>
        <p:nvSpPr>
          <p:cNvPr id="10" name="TextBox 9"/>
          <p:cNvSpPr txBox="1"/>
          <p:nvPr/>
        </p:nvSpPr>
        <p:spPr>
          <a:xfrm>
            <a:off x="1508760" y="1856231"/>
            <a:ext cx="9601200" cy="365760"/>
          </a:xfrm>
          <a:prstGeom prst="rect">
            <a:avLst/>
          </a:prstGeom>
          <a:noFill/>
        </p:spPr>
        <p:txBody>
          <a:bodyPr wrap="square" anchor="t" lIns="0" rIns="0" tIns="0" bIns="0">
            <a:spAutoFit/>
          </a:bodyPr>
          <a:lstStyle/>
          <a:p>
            <a:pPr algn="l">
              <a:lnSpc>
                <a:spcPct val="110000"/>
              </a:lnSpc>
            </a:pPr>
            <a:r>
              <a:rPr sz="2100">
                <a:solidFill>
                  <a:srgbClr val="14213D"/>
                </a:solidFill>
                <a:latin typeface="Segoe UI Semibold"/>
              </a:rPr>
              <a:t>One corrupted result, Monitor off, then on</a:t>
            </a:r>
          </a:p>
        </p:txBody>
      </p:sp>
      <p:sp>
        <p:nvSpPr>
          <p:cNvPr id="11" name="TextBox 10"/>
          <p:cNvSpPr txBox="1"/>
          <p:nvPr/>
        </p:nvSpPr>
        <p:spPr>
          <a:xfrm>
            <a:off x="1508760" y="2258568"/>
            <a:ext cx="9601200" cy="365760"/>
          </a:xfrm>
          <a:prstGeom prst="rect">
            <a:avLst/>
          </a:prstGeom>
          <a:noFill/>
        </p:spPr>
        <p:txBody>
          <a:bodyPr wrap="square" anchor="t" lIns="0" rIns="0" tIns="0" bIns="0">
            <a:spAutoFit/>
          </a:bodyPr>
          <a:lstStyle/>
          <a:p>
            <a:pPr algn="l">
              <a:lnSpc>
                <a:spcPct val="110000"/>
              </a:lnSpc>
            </a:pPr>
            <a:r>
              <a:rPr sz="1500">
                <a:solidFill>
                  <a:srgbClr val="64748B"/>
                </a:solidFill>
                <a:latin typeface="Consolas"/>
              </a:rPr>
              <a:t>python ta2/run.py containment</a:t>
            </a:r>
          </a:p>
        </p:txBody>
      </p:sp>
      <p:sp>
        <p:nvSpPr>
          <p:cNvPr id="12" name="Oval 11"/>
          <p:cNvSpPr/>
          <p:nvPr/>
        </p:nvSpPr>
        <p:spPr>
          <a:xfrm>
            <a:off x="640080" y="2898648"/>
            <a:ext cx="566928" cy="56692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898648"/>
            <a:ext cx="566928" cy="566928"/>
          </a:xfrm>
          <a:prstGeom prst="rect">
            <a:avLst/>
          </a:prstGeom>
          <a:noFill/>
        </p:spPr>
        <p:txBody>
          <a:bodyPr wrap="square" anchor="ctr" lIns="0" rIns="0" tIns="0" bIns="0">
            <a:spAutoFit/>
          </a:bodyPr>
          <a:lstStyle/>
          <a:p>
            <a:pPr algn="ctr">
              <a:lnSpc>
                <a:spcPct val="110000"/>
              </a:lnSpc>
            </a:pPr>
            <a:r>
              <a:rPr sz="2200">
                <a:solidFill>
                  <a:srgbClr val="FFFFFF"/>
                </a:solidFill>
                <a:latin typeface="Bahnschrift SemiBold"/>
              </a:rPr>
              <a:t>2</a:t>
            </a:r>
          </a:p>
        </p:txBody>
      </p:sp>
      <p:sp>
        <p:nvSpPr>
          <p:cNvPr id="14" name="TextBox 13"/>
          <p:cNvSpPr txBox="1"/>
          <p:nvPr/>
        </p:nvSpPr>
        <p:spPr>
          <a:xfrm>
            <a:off x="1508760" y="2880360"/>
            <a:ext cx="9601200" cy="365760"/>
          </a:xfrm>
          <a:prstGeom prst="rect">
            <a:avLst/>
          </a:prstGeom>
          <a:noFill/>
        </p:spPr>
        <p:txBody>
          <a:bodyPr wrap="square" anchor="t" lIns="0" rIns="0" tIns="0" bIns="0">
            <a:spAutoFit/>
          </a:bodyPr>
          <a:lstStyle/>
          <a:p>
            <a:pPr algn="l">
              <a:lnSpc>
                <a:spcPct val="110000"/>
              </a:lnSpc>
            </a:pPr>
            <a:r>
              <a:rPr sz="2100">
                <a:solidFill>
                  <a:srgbClr val="14213D"/>
                </a:solidFill>
                <a:latin typeface="Segoe UI Semibold"/>
              </a:rPr>
              <a:t>Five injected failure types and the evidence table</a:t>
            </a:r>
          </a:p>
        </p:txBody>
      </p:sp>
      <p:sp>
        <p:nvSpPr>
          <p:cNvPr id="15" name="TextBox 14"/>
          <p:cNvSpPr txBox="1"/>
          <p:nvPr/>
        </p:nvSpPr>
        <p:spPr>
          <a:xfrm>
            <a:off x="1508760" y="3282696"/>
            <a:ext cx="9601200" cy="365760"/>
          </a:xfrm>
          <a:prstGeom prst="rect">
            <a:avLst/>
          </a:prstGeom>
          <a:noFill/>
        </p:spPr>
        <p:txBody>
          <a:bodyPr wrap="square" anchor="t" lIns="0" rIns="0" tIns="0" bIns="0">
            <a:spAutoFit/>
          </a:bodyPr>
          <a:lstStyle/>
          <a:p>
            <a:pPr algn="l">
              <a:lnSpc>
                <a:spcPct val="110000"/>
              </a:lnSpc>
            </a:pPr>
            <a:r>
              <a:rPr sz="1500">
                <a:solidFill>
                  <a:srgbClr val="64748B"/>
                </a:solidFill>
                <a:latin typeface="Consolas"/>
              </a:rPr>
              <a:t>python ta2/run.py failures</a:t>
            </a:r>
          </a:p>
        </p:txBody>
      </p:sp>
      <p:sp>
        <p:nvSpPr>
          <p:cNvPr id="16" name="Oval 15"/>
          <p:cNvSpPr/>
          <p:nvPr/>
        </p:nvSpPr>
        <p:spPr>
          <a:xfrm>
            <a:off x="640080" y="392277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922776"/>
            <a:ext cx="566928" cy="566928"/>
          </a:xfrm>
          <a:prstGeom prst="rect">
            <a:avLst/>
          </a:prstGeom>
          <a:noFill/>
        </p:spPr>
        <p:txBody>
          <a:bodyPr wrap="square" anchor="ctr" lIns="0" rIns="0" tIns="0" bIns="0">
            <a:spAutoFit/>
          </a:bodyPr>
          <a:lstStyle/>
          <a:p>
            <a:pPr algn="ctr">
              <a:lnSpc>
                <a:spcPct val="110000"/>
              </a:lnSpc>
            </a:pPr>
            <a:r>
              <a:rPr sz="2200">
                <a:solidFill>
                  <a:srgbClr val="FFFFFF"/>
                </a:solidFill>
                <a:latin typeface="Bahnschrift SemiBold"/>
              </a:rPr>
              <a:t>3</a:t>
            </a:r>
          </a:p>
        </p:txBody>
      </p:sp>
      <p:sp>
        <p:nvSpPr>
          <p:cNvPr id="18" name="TextBox 17"/>
          <p:cNvSpPr txBox="1"/>
          <p:nvPr/>
        </p:nvSpPr>
        <p:spPr>
          <a:xfrm>
            <a:off x="1508760" y="3904488"/>
            <a:ext cx="9601200" cy="365760"/>
          </a:xfrm>
          <a:prstGeom prst="rect">
            <a:avLst/>
          </a:prstGeom>
          <a:noFill/>
        </p:spPr>
        <p:txBody>
          <a:bodyPr wrap="square" anchor="t" lIns="0" rIns="0" tIns="0" bIns="0">
            <a:spAutoFit/>
          </a:bodyPr>
          <a:lstStyle/>
          <a:p>
            <a:pPr algn="l">
              <a:lnSpc>
                <a:spcPct val="110000"/>
              </a:lnSpc>
            </a:pPr>
            <a:r>
              <a:rPr sz="2100">
                <a:solidFill>
                  <a:srgbClr val="14213D"/>
                </a:solidFill>
                <a:latin typeface="Segoe UI Semibold"/>
              </a:rPr>
              <a:t>Personal data paused for a person: approve, then reject</a:t>
            </a:r>
          </a:p>
        </p:txBody>
      </p:sp>
      <p:sp>
        <p:nvSpPr>
          <p:cNvPr id="19" name="TextBox 18"/>
          <p:cNvSpPr txBox="1"/>
          <p:nvPr/>
        </p:nvSpPr>
        <p:spPr>
          <a:xfrm>
            <a:off x="1508760" y="4306824"/>
            <a:ext cx="9601200" cy="365760"/>
          </a:xfrm>
          <a:prstGeom prst="rect">
            <a:avLst/>
          </a:prstGeom>
          <a:noFill/>
        </p:spPr>
        <p:txBody>
          <a:bodyPr wrap="square" anchor="t" lIns="0" rIns="0" tIns="0" bIns="0">
            <a:spAutoFit/>
          </a:bodyPr>
          <a:lstStyle/>
          <a:p>
            <a:pPr algn="l">
              <a:lnSpc>
                <a:spcPct val="110000"/>
              </a:lnSpc>
            </a:pPr>
            <a:r>
              <a:rPr sz="1500">
                <a:solidFill>
                  <a:srgbClr val="64748B"/>
                </a:solidFill>
                <a:latin typeface="Consolas"/>
              </a:rPr>
              <a:t>python ta2/run.py privacy</a:t>
            </a:r>
          </a:p>
        </p:txBody>
      </p:sp>
      <p:sp>
        <p:nvSpPr>
          <p:cNvPr id="20" name="Oval 19"/>
          <p:cNvSpPr/>
          <p:nvPr/>
        </p:nvSpPr>
        <p:spPr>
          <a:xfrm>
            <a:off x="640080" y="4946904"/>
            <a:ext cx="566928" cy="56692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946904"/>
            <a:ext cx="566928" cy="566928"/>
          </a:xfrm>
          <a:prstGeom prst="rect">
            <a:avLst/>
          </a:prstGeom>
          <a:noFill/>
        </p:spPr>
        <p:txBody>
          <a:bodyPr wrap="square" anchor="ctr" lIns="0" rIns="0" tIns="0" bIns="0">
            <a:spAutoFit/>
          </a:bodyPr>
          <a:lstStyle/>
          <a:p>
            <a:pPr algn="ctr">
              <a:lnSpc>
                <a:spcPct val="110000"/>
              </a:lnSpc>
            </a:pPr>
            <a:r>
              <a:rPr sz="2200">
                <a:solidFill>
                  <a:srgbClr val="FFFFFF"/>
                </a:solidFill>
                <a:latin typeface="Bahnschrift SemiBold"/>
              </a:rPr>
              <a:t>4</a:t>
            </a:r>
          </a:p>
        </p:txBody>
      </p:sp>
      <p:sp>
        <p:nvSpPr>
          <p:cNvPr id="22" name="TextBox 21"/>
          <p:cNvSpPr txBox="1"/>
          <p:nvPr/>
        </p:nvSpPr>
        <p:spPr>
          <a:xfrm>
            <a:off x="1508760" y="4928616"/>
            <a:ext cx="9601200" cy="365760"/>
          </a:xfrm>
          <a:prstGeom prst="rect">
            <a:avLst/>
          </a:prstGeom>
          <a:noFill/>
        </p:spPr>
        <p:txBody>
          <a:bodyPr wrap="square" anchor="t" lIns="0" rIns="0" tIns="0" bIns="0">
            <a:spAutoFit/>
          </a:bodyPr>
          <a:lstStyle/>
          <a:p>
            <a:pPr algn="l">
              <a:lnSpc>
                <a:spcPct val="110000"/>
              </a:lnSpc>
            </a:pPr>
            <a:r>
              <a:rPr sz="2100">
                <a:solidFill>
                  <a:srgbClr val="14213D"/>
                </a:solidFill>
                <a:latin typeface="Segoe UI Semibold"/>
              </a:rPr>
              <a:t>Your question, or your edge case</a:t>
            </a:r>
          </a:p>
        </p:txBody>
      </p:sp>
      <p:sp>
        <p:nvSpPr>
          <p:cNvPr id="23" name="TextBox 22"/>
          <p:cNvSpPr txBox="1"/>
          <p:nvPr/>
        </p:nvSpPr>
        <p:spPr>
          <a:xfrm>
            <a:off x="1508760" y="5330952"/>
            <a:ext cx="9601200" cy="365760"/>
          </a:xfrm>
          <a:prstGeom prst="rect">
            <a:avLst/>
          </a:prstGeom>
          <a:noFill/>
        </p:spPr>
        <p:txBody>
          <a:bodyPr wrap="square" anchor="t" lIns="0" rIns="0" tIns="0" bIns="0">
            <a:spAutoFit/>
          </a:bodyPr>
          <a:lstStyle/>
          <a:p>
            <a:pPr algn="l">
              <a:lnSpc>
                <a:spcPct val="110000"/>
              </a:lnSpc>
            </a:pPr>
            <a:r>
              <a:rPr sz="1500">
                <a:solidFill>
                  <a:srgbClr val="64748B"/>
                </a:solidFill>
                <a:latin typeface="Segoe UI"/>
              </a:rPr>
              <a:t>every run is also saved in traces/ as a backup</a:t>
            </a:r>
          </a:p>
        </p:txBody>
      </p:sp>
      <p:sp>
        <p:nvSpPr>
          <p:cNvPr id="24" name="TextBox 23"/>
          <p:cNvSpPr txBox="1"/>
          <p:nvPr/>
        </p:nvSpPr>
        <p:spPr>
          <a:xfrm>
            <a:off x="640080" y="6446520"/>
            <a:ext cx="5486400" cy="274320"/>
          </a:xfrm>
          <a:prstGeom prst="rect">
            <a:avLst/>
          </a:prstGeom>
          <a:noFill/>
        </p:spPr>
        <p:txBody>
          <a:bodyPr wrap="square" anchor="t" lIns="0" rIns="0" tIns="0" bIns="0">
            <a:spAutoFit/>
          </a:bodyPr>
          <a:lstStyle/>
          <a:p>
            <a:pPr algn="l">
              <a:lnSpc>
                <a:spcPct val="110000"/>
              </a:lnSpc>
            </a:pPr>
            <a:r>
              <a:rPr sz="1100">
                <a:solidFill>
                  <a:srgbClr val="64748B"/>
                </a:solidFill>
                <a:latin typeface="Segoe UI"/>
              </a:rPr>
              <a:t>QueryMend  ·  Group 17  ·  AIA_05</a:t>
            </a:r>
          </a:p>
        </p:txBody>
      </p:sp>
      <p:sp>
        <p:nvSpPr>
          <p:cNvPr id="25" name="TextBox 24"/>
          <p:cNvSpPr txBox="1"/>
          <p:nvPr/>
        </p:nvSpPr>
        <p:spPr>
          <a:xfrm>
            <a:off x="10637215" y="6446520"/>
            <a:ext cx="914400" cy="274320"/>
          </a:xfrm>
          <a:prstGeom prst="rect">
            <a:avLst/>
          </a:prstGeom>
          <a:noFill/>
        </p:spPr>
        <p:txBody>
          <a:bodyPr wrap="square" anchor="t" lIns="0" rIns="0" tIns="0" bIns="0">
            <a:spAutoFit/>
          </a:bodyPr>
          <a:lstStyle/>
          <a:p>
            <a:pPr algn="r">
              <a:lnSpc>
                <a:spcPct val="110000"/>
              </a:lnSpc>
            </a:pPr>
            <a:r>
              <a:rPr sz="1100">
                <a:solidFill>
                  <a:srgbClr val="64748B"/>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640080" y="384048"/>
            <a:ext cx="256032"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 y="384048"/>
            <a:ext cx="256032" cy="640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61872" y="384048"/>
            <a:ext cx="256032" cy="6400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384048"/>
            <a:ext cx="256032"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21792"/>
            <a:ext cx="10058400" cy="320040"/>
          </a:xfrm>
          <a:prstGeom prst="rect">
            <a:avLst/>
          </a:prstGeom>
          <a:noFill/>
        </p:spPr>
        <p:txBody>
          <a:bodyPr wrap="square" anchor="t" lIns="0" rIns="0" tIns="0" bIns="0">
            <a:spAutoFit/>
          </a:bodyPr>
          <a:lstStyle/>
          <a:p>
            <a:pPr algn="l">
              <a:lnSpc>
                <a:spcPct val="110000"/>
              </a:lnSpc>
            </a:pPr>
            <a:r>
              <a:rPr sz="1300" spc="150">
                <a:solidFill>
                  <a:srgbClr val="FBBF24"/>
                </a:solidFill>
                <a:latin typeface="Segoe UI Semibold"/>
              </a:rPr>
              <a:t>WHAT'S NEXT</a:t>
            </a:r>
          </a:p>
        </p:txBody>
      </p:sp>
      <p:sp>
        <p:nvSpPr>
          <p:cNvPr id="7" name="TextBox 6"/>
          <p:cNvSpPr txBox="1"/>
          <p:nvPr/>
        </p:nvSpPr>
        <p:spPr>
          <a:xfrm>
            <a:off x="640080" y="932688"/>
            <a:ext cx="10881360" cy="914400"/>
          </a:xfrm>
          <a:prstGeom prst="rect">
            <a:avLst/>
          </a:prstGeom>
          <a:noFill/>
        </p:spPr>
        <p:txBody>
          <a:bodyPr wrap="square" anchor="t" lIns="0" rIns="0" tIns="0" bIns="0">
            <a:spAutoFit/>
          </a:bodyPr>
          <a:lstStyle/>
          <a:p>
            <a:pPr algn="l">
              <a:lnSpc>
                <a:spcPct val="100000"/>
              </a:lnSpc>
            </a:pPr>
            <a:r>
              <a:rPr sz="3400">
                <a:solidFill>
                  <a:srgbClr val="FFFFFF"/>
                </a:solidFill>
                <a:latin typeface="Bahnschrift SemiBold"/>
              </a:rPr>
              <a:t>From a class project to a tool a shop owner can trust</a:t>
            </a:r>
          </a:p>
        </p:txBody>
      </p:sp>
      <p:sp>
        <p:nvSpPr>
          <p:cNvPr id="8" name="Rectangle 7"/>
          <p:cNvSpPr/>
          <p:nvPr/>
        </p:nvSpPr>
        <p:spPr>
          <a:xfrm>
            <a:off x="640080" y="2130552"/>
            <a:ext cx="109728" cy="65836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10058400" cy="411480"/>
          </a:xfrm>
          <a:prstGeom prst="rect">
            <a:avLst/>
          </a:prstGeom>
          <a:noFill/>
        </p:spPr>
        <p:txBody>
          <a:bodyPr wrap="square" anchor="t" lIns="0" rIns="0" tIns="0" bIns="0">
            <a:spAutoFit/>
          </a:bodyPr>
          <a:lstStyle/>
          <a:p>
            <a:pPr algn="l">
              <a:lnSpc>
                <a:spcPct val="110000"/>
              </a:lnSpc>
            </a:pPr>
            <a:r>
              <a:rPr sz="2200">
                <a:solidFill>
                  <a:srgbClr val="FFFFFF"/>
                </a:solidFill>
                <a:latin typeface="Bahnschrift SemiBold"/>
              </a:rPr>
              <a:t>Owners set their own limits</a:t>
            </a:r>
          </a:p>
        </p:txBody>
      </p:sp>
      <p:sp>
        <p:nvSpPr>
          <p:cNvPr id="10" name="TextBox 9"/>
          <p:cNvSpPr txBox="1"/>
          <p:nvPr/>
        </p:nvSpPr>
        <p:spPr>
          <a:xfrm>
            <a:off x="1005840" y="2468880"/>
            <a:ext cx="10058400" cy="365760"/>
          </a:xfrm>
          <a:prstGeom prst="rect">
            <a:avLst/>
          </a:prstGeom>
          <a:noFill/>
        </p:spPr>
        <p:txBody>
          <a:bodyPr wrap="square" anchor="t" lIns="0" rIns="0" tIns="0" bIns="0">
            <a:spAutoFit/>
          </a:bodyPr>
          <a:lstStyle/>
          <a:p>
            <a:pPr algn="l">
              <a:lnSpc>
                <a:spcPct val="110000"/>
              </a:lnSpc>
            </a:pPr>
            <a:r>
              <a:rPr sz="1500">
                <a:solidFill>
                  <a:srgbClr val="CBD5E1"/>
                </a:solidFill>
                <a:latin typeface="Segoe UI"/>
              </a:rPr>
              <a:t>"An order is never above Rs 50,000"</a:t>
            </a:r>
          </a:p>
        </p:txBody>
      </p:sp>
      <p:sp>
        <p:nvSpPr>
          <p:cNvPr id="11" name="Rectangle 10"/>
          <p:cNvSpPr/>
          <p:nvPr/>
        </p:nvSpPr>
        <p:spPr>
          <a:xfrm>
            <a:off x="640080" y="3090672"/>
            <a:ext cx="109728" cy="65836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017520"/>
            <a:ext cx="10058400" cy="411480"/>
          </a:xfrm>
          <a:prstGeom prst="rect">
            <a:avLst/>
          </a:prstGeom>
          <a:noFill/>
        </p:spPr>
        <p:txBody>
          <a:bodyPr wrap="square" anchor="t" lIns="0" rIns="0" tIns="0" bIns="0">
            <a:spAutoFit/>
          </a:bodyPr>
          <a:lstStyle/>
          <a:p>
            <a:pPr algn="l">
              <a:lnSpc>
                <a:spcPct val="110000"/>
              </a:lnSpc>
            </a:pPr>
            <a:r>
              <a:rPr sz="2200">
                <a:solidFill>
                  <a:srgbClr val="FFFFFF"/>
                </a:solidFill>
                <a:latin typeface="Bahnschrift SemiBold"/>
              </a:rPr>
              <a:t>Real databases, read-only</a:t>
            </a:r>
          </a:p>
        </p:txBody>
      </p:sp>
      <p:sp>
        <p:nvSpPr>
          <p:cNvPr id="13" name="TextBox 12"/>
          <p:cNvSpPr txBox="1"/>
          <p:nvPr/>
        </p:nvSpPr>
        <p:spPr>
          <a:xfrm>
            <a:off x="1005840" y="3429000"/>
            <a:ext cx="10058400" cy="365760"/>
          </a:xfrm>
          <a:prstGeom prst="rect">
            <a:avLst/>
          </a:prstGeom>
          <a:noFill/>
        </p:spPr>
        <p:txBody>
          <a:bodyPr wrap="square" anchor="t" lIns="0" rIns="0" tIns="0" bIns="0">
            <a:spAutoFit/>
          </a:bodyPr>
          <a:lstStyle/>
          <a:p>
            <a:pPr algn="l">
              <a:lnSpc>
                <a:spcPct val="110000"/>
              </a:lnSpc>
            </a:pPr>
            <a:r>
              <a:rPr sz="1500">
                <a:solidFill>
                  <a:srgbClr val="CBD5E1"/>
                </a:solidFill>
                <a:latin typeface="Segoe UI"/>
              </a:rPr>
              <a:t>Postgres or MySQL through a read-only user, same checks</a:t>
            </a:r>
          </a:p>
        </p:txBody>
      </p:sp>
      <p:sp>
        <p:nvSpPr>
          <p:cNvPr id="14" name="Rectangle 13"/>
          <p:cNvSpPr/>
          <p:nvPr/>
        </p:nvSpPr>
        <p:spPr>
          <a:xfrm>
            <a:off x="640080" y="4050791"/>
            <a:ext cx="109728" cy="65836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977639"/>
            <a:ext cx="10058400" cy="411480"/>
          </a:xfrm>
          <a:prstGeom prst="rect">
            <a:avLst/>
          </a:prstGeom>
          <a:noFill/>
        </p:spPr>
        <p:txBody>
          <a:bodyPr wrap="square" anchor="t" lIns="0" rIns="0" tIns="0" bIns="0">
            <a:spAutoFit/>
          </a:bodyPr>
          <a:lstStyle/>
          <a:p>
            <a:pPr algn="l">
              <a:lnSpc>
                <a:spcPct val="110000"/>
              </a:lnSpc>
            </a:pPr>
            <a:r>
              <a:rPr sz="2200">
                <a:solidFill>
                  <a:srgbClr val="FFFFFF"/>
                </a:solidFill>
                <a:latin typeface="Bahnschrift SemiBold"/>
              </a:rPr>
              <a:t>Show the work</a:t>
            </a:r>
          </a:p>
        </p:txBody>
      </p:sp>
      <p:sp>
        <p:nvSpPr>
          <p:cNvPr id="16" name="TextBox 15"/>
          <p:cNvSpPr txBox="1"/>
          <p:nvPr/>
        </p:nvSpPr>
        <p:spPr>
          <a:xfrm>
            <a:off x="1005840" y="4389120"/>
            <a:ext cx="10058400" cy="365760"/>
          </a:xfrm>
          <a:prstGeom prst="rect">
            <a:avLst/>
          </a:prstGeom>
          <a:noFill/>
        </p:spPr>
        <p:txBody>
          <a:bodyPr wrap="square" anchor="t" lIns="0" rIns="0" tIns="0" bIns="0">
            <a:spAutoFit/>
          </a:bodyPr>
          <a:lstStyle/>
          <a:p>
            <a:pPr algn="l">
              <a:lnSpc>
                <a:spcPct val="110000"/>
              </a:lnSpc>
            </a:pPr>
            <a:r>
              <a:rPr sz="1500">
                <a:solidFill>
                  <a:srgbClr val="CBD5E1"/>
                </a:solidFill>
                <a:latin typeface="Segoe UI"/>
              </a:rPr>
              <a:t>The answer, the SQL behind it, and a note whenever the Monitor stepped in</a:t>
            </a:r>
          </a:p>
        </p:txBody>
      </p:sp>
      <p:sp>
        <p:nvSpPr>
          <p:cNvPr id="17" name="TextBox 16"/>
          <p:cNvSpPr txBox="1"/>
          <p:nvPr/>
        </p:nvSpPr>
        <p:spPr>
          <a:xfrm>
            <a:off x="640080" y="5120640"/>
            <a:ext cx="10058400" cy="731520"/>
          </a:xfrm>
          <a:prstGeom prst="rect">
            <a:avLst/>
          </a:prstGeom>
          <a:noFill/>
        </p:spPr>
        <p:txBody>
          <a:bodyPr wrap="square" anchor="t" lIns="0" rIns="0" tIns="0" bIns="0">
            <a:spAutoFit/>
          </a:bodyPr>
          <a:lstStyle/>
          <a:p>
            <a:pPr algn="l">
              <a:lnSpc>
                <a:spcPct val="110000"/>
              </a:lnSpc>
            </a:pPr>
            <a:r>
              <a:rPr sz="4000">
                <a:solidFill>
                  <a:srgbClr val="FFFFFF"/>
                </a:solidFill>
                <a:latin typeface="Bahnschrift SemiBold"/>
              </a:rPr>
              <a:t>Thank you. Questions?</a:t>
            </a:r>
          </a:p>
        </p:txBody>
      </p:sp>
      <p:sp>
        <p:nvSpPr>
          <p:cNvPr id="18" name="TextBox 17"/>
          <p:cNvSpPr txBox="1"/>
          <p:nvPr/>
        </p:nvSpPr>
        <p:spPr>
          <a:xfrm>
            <a:off x="640080" y="5852160"/>
            <a:ext cx="10058400" cy="365760"/>
          </a:xfrm>
          <a:prstGeom prst="rect">
            <a:avLst/>
          </a:prstGeom>
          <a:noFill/>
        </p:spPr>
        <p:txBody>
          <a:bodyPr wrap="square" anchor="t" lIns="0" rIns="0" tIns="0" bIns="0">
            <a:spAutoFit/>
          </a:bodyPr>
          <a:lstStyle/>
          <a:p>
            <a:pPr algn="l">
              <a:lnSpc>
                <a:spcPct val="110000"/>
              </a:lnSpc>
            </a:pPr>
            <a:r>
              <a:rPr sz="1400">
                <a:solidFill>
                  <a:srgbClr val="FBBF24"/>
                </a:solidFill>
                <a:latin typeface="Consolas"/>
              </a:rPr>
              <a:t>github.com/Swaraj-Mandre/FailureDetectionAgent</a:t>
            </a:r>
          </a:p>
        </p:txBody>
      </p:sp>
      <p:sp>
        <p:nvSpPr>
          <p:cNvPr id="19" name="TextBox 18"/>
          <p:cNvSpPr txBox="1"/>
          <p:nvPr/>
        </p:nvSpPr>
        <p:spPr>
          <a:xfrm>
            <a:off x="640080" y="6446520"/>
            <a:ext cx="5486400" cy="274320"/>
          </a:xfrm>
          <a:prstGeom prst="rect">
            <a:avLst/>
          </a:prstGeom>
          <a:noFill/>
        </p:spPr>
        <p:txBody>
          <a:bodyPr wrap="square" anchor="t" lIns="0" rIns="0" tIns="0" bIns="0">
            <a:spAutoFit/>
          </a:bodyPr>
          <a:lstStyle/>
          <a:p>
            <a:pPr algn="l">
              <a:lnSpc>
                <a:spcPct val="110000"/>
              </a:lnSpc>
            </a:pPr>
            <a:r>
              <a:rPr sz="1100">
                <a:solidFill>
                  <a:srgbClr val="CBD5E1"/>
                </a:solidFill>
                <a:latin typeface="Segoe UI"/>
              </a:rPr>
              <a:t>QueryMend  ·  Group 17  ·  AIA_05</a:t>
            </a:r>
          </a:p>
        </p:txBody>
      </p:sp>
      <p:sp>
        <p:nvSpPr>
          <p:cNvPr id="20" name="TextBox 19"/>
          <p:cNvSpPr txBox="1"/>
          <p:nvPr/>
        </p:nvSpPr>
        <p:spPr>
          <a:xfrm>
            <a:off x="10637215" y="6446520"/>
            <a:ext cx="914400" cy="274320"/>
          </a:xfrm>
          <a:prstGeom prst="rect">
            <a:avLst/>
          </a:prstGeom>
          <a:noFill/>
        </p:spPr>
        <p:txBody>
          <a:bodyPr wrap="square" anchor="t" lIns="0" rIns="0" tIns="0" bIns="0">
            <a:spAutoFit/>
          </a:bodyPr>
          <a:lstStyle/>
          <a:p>
            <a:pPr algn="r">
              <a:lnSpc>
                <a:spcPct val="110000"/>
              </a:lnSpc>
            </a:pPr>
            <a:r>
              <a:rPr sz="1100">
                <a:solidFill>
                  <a:srgbClr val="CBD5E1"/>
                </a:solidFill>
                <a:latin typeface="Segoe U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